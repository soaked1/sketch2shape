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ketch2Shape" id="{ebdc443e-d16b-f7cd-5c57-1eae06ff7d28}">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Sketch2Shape turns one sketch, drawn or uploaded, into a textured 3D model. A prompt is optional. This house is a real result from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3D modeling takes expert skills, but ideas often start as sketches. A single view has no depth or hidden surfaces, so the system has to interpret lines and imagine what is missing while staying faithful to the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the sketch. CLIP names it if there is no prompt. Stable Diffusion 1.5 with ControlNet Scribble paints an image that follows the lines. rembg isolates the object. TripoSR builds the mesh. Then we clean it, bake the texture and export .glb and .obj. Files are reloaded and validated. If the object drifts from the sketch or validation fails, it retries with a new seed. Failures raise a stage-named error, never a fake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records its own metrics. 18 of 18 models were valid, about 97 percent of strokes landed on the model, a model takes about 31 seconds and peak VRAM is 2.68 GB. The house and mug scored 98 percent and the rough vase 85 percent. The test set is small, so these are not a general accuracy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tools hide how faithful the result is. Sketch match draws the strokes over the model so you can see it. Variants generates three models and ranks them by how well they follow the sketch, not by looks. Live stages show each step and its time. CLIP names the sketch when there is no prompt, an ink check retries before the slow 3D step, and it runs on an AMD GPU despite NVIDIA-focused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hidden geometry is a plausible guess, thin repeated parts are weak, and full runs were tested on one AMD GPU. We used pretrained models with no custom dataset, and AI assistants as logged in ATTRIBUTION.md. Start the app before this slide, because startup takes about 60 seconds. Then invite a fresh sketch from the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n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g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800" b="1" dirty="0">
                <a:solidFill>
                  <a:schemeClr val="bg2"/>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SoAkeD1/sketch2shape"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800" b="1" dirty="0">
                <a:solidFill>
                  <a:schemeClr val="bg2"/>
                </a:solidFill>
              </a:rPr>
              <a:t>Sketch2Shape</a:t>
            </a:r>
            <a:endParaRPr lang="en-US" sz="3800" dirty="0"/>
          </a:p>
        </p:txBody>
      </p:sp>
      <p:sp>
        <p:nvSpPr>
          <p:cNvPr id="3" name="Text 1"/>
          <p:cNvSpPr txBox="1"/>
          <p:nvPr/>
        </p:nvSpPr>
        <p:spPr>
          <a:xfrm>
            <a:off x="548640" y="1417320"/>
            <a:ext cx="5486400" cy="2103120"/>
          </a:xfrm>
          <a:prstGeom prst="rect">
            <a:avLst/>
          </a:prstGeom>
          <a:noFill/>
          <a:ln/>
        </p:spPr>
        <p:txBody>
          <a:bodyPr wrap="square" lIns="0" tIns="0" rIns="0" bIns="0" rtlCol="0" anchor="t"/>
          <a:lstStyle/>
          <a:p>
            <a:pPr indent="0" marL="0">
              <a:buNone/>
            </a:pPr>
            <a:r>
              <a:rPr lang="en-US" sz="4000" b="1" dirty="0">
                <a:solidFill>
                  <a:schemeClr val="bg2"/>
                </a:solidFill>
              </a:rPr>
              <a:t>Draw one object. Get a </a:t>
            </a:r>
            <a:pPr indent="0" marL="0">
              <a:buNone/>
            </a:pPr>
            <a:r>
              <a:rPr lang="en-US" sz="4000" b="1" dirty="0">
                <a:solidFill>
                  <a:schemeClr val="tx1"/>
                </a:solidFill>
                <a:highlight>
                  <a:srgbClr val="FFD54F"/>
                </a:highlight>
              </a:rPr>
              <a:t> 3D model </a:t>
            </a:r>
            <a:pPr indent="0" marL="0">
              <a:buNone/>
            </a:pPr>
            <a:r>
              <a:rPr lang="en-US" sz="4000" b="1" dirty="0">
                <a:solidFill>
                  <a:schemeClr val="bg2"/>
                </a:solidFill>
              </a:rPr>
              <a:t> you can turn around.</a:t>
            </a:r>
            <a:endParaRPr lang="en-US" sz="4000" dirty="0"/>
          </a:p>
        </p:txBody>
      </p:sp>
      <p:sp>
        <p:nvSpPr>
          <p:cNvPr id="4" name="Text 2"/>
          <p:cNvSpPr txBox="1"/>
          <p:nvPr/>
        </p:nvSpPr>
        <p:spPr>
          <a:xfrm>
            <a:off x="548640" y="3749040"/>
            <a:ext cx="5120640" cy="457200"/>
          </a:xfrm>
          <a:prstGeom prst="rect">
            <a:avLst/>
          </a:prstGeom>
          <a:noFill/>
          <a:ln/>
        </p:spPr>
        <p:txBody>
          <a:bodyPr wrap="square" lIns="0" tIns="0" rIns="0" bIns="0" rtlCol="0" anchor="ctr"/>
          <a:lstStyle/>
          <a:p>
            <a:pPr indent="0" marL="0">
              <a:buNone/>
            </a:pPr>
            <a:r>
              <a:rPr lang="en-US" sz="1800" dirty="0">
                <a:solidFill>
                  <a:schemeClr val="accent4"/>
                </a:solidFill>
              </a:rPr>
              <a:t>No 3D skills. One sketch in, one textured model out.</a:t>
            </a:r>
            <a:endParaRPr lang="en-US" sz="1800" dirty="0"/>
          </a:p>
        </p:txBody>
      </p:sp>
      <p:sp>
        <p:nvSpPr>
          <p:cNvPr id="5" name="Text 3"/>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TechZephyr 4.0  |  IIT Bhubaneswar</a:t>
            </a:r>
            <a:endParaRPr lang="en-US" sz="1400" dirty="0"/>
          </a:p>
        </p:txBody>
      </p:sp>
      <p:sp>
        <p:nvSpPr>
          <p:cNvPr id="6" name="Shape 4"/>
          <p:cNvSpPr/>
          <p:nvPr/>
        </p:nvSpPr>
        <p:spPr>
          <a:xfrm>
            <a:off x="6355080" y="1417320"/>
            <a:ext cx="2240280" cy="2240280"/>
          </a:xfrm>
          <a:prstGeom prst="roundRect">
            <a:avLst>
              <a:gd name="adj" fmla="val 3265"/>
            </a:avLst>
          </a:prstGeom>
          <a:solidFill>
            <a:schemeClr val="bg1"/>
          </a:solidFill>
          <a:ln/>
        </p:spPr>
      </p:sp>
      <p:pic>
        <p:nvPicPr>
          <p:cNvPr id="7" name="Image 0" descr="Drawn house sketch">    </p:cNvPr>
          <p:cNvPicPr>
            <a:picLocks noChangeAspect="1"/>
          </p:cNvPicPr>
          <p:nvPr/>
        </p:nvPicPr>
        <p:blipFill>
          <a:blip r:embed="rId1"/>
          <a:stretch>
            <a:fillRect/>
          </a:stretch>
        </p:blipFill>
        <p:spPr>
          <a:xfrm>
            <a:off x="6446520" y="1508760"/>
            <a:ext cx="2057400" cy="2057400"/>
          </a:xfrm>
          <a:prstGeom prst="rect">
            <a:avLst/>
          </a:prstGeom>
        </p:spPr>
      </p:pic>
      <p:sp>
        <p:nvSpPr>
          <p:cNvPr id="8" name="Shape 5"/>
          <p:cNvSpPr/>
          <p:nvPr/>
        </p:nvSpPr>
        <p:spPr>
          <a:xfrm>
            <a:off x="8686800" y="2542032"/>
            <a:ext cx="365760" cy="0"/>
          </a:xfrm>
          <a:prstGeom prst="line">
            <a:avLst/>
          </a:prstGeom>
          <a:noFill/>
          <a:ln w="28575">
            <a:solidFill>
              <a:schemeClr val="accent2"/>
            </a:solidFill>
            <a:prstDash val="solid"/>
            <a:tailEnd type="triangle"/>
          </a:ln>
        </p:spPr>
      </p:sp>
      <p:pic>
        <p:nvPicPr>
          <p:cNvPr id="9" name="Image 1" descr="3D house model made from the sketch">    </p:cNvPr>
          <p:cNvPicPr>
            <a:picLocks noChangeAspect="1"/>
          </p:cNvPicPr>
          <p:nvPr/>
        </p:nvPicPr>
        <p:blipFill>
          <a:blip r:embed="rId2"/>
          <a:stretch>
            <a:fillRect/>
          </a:stretch>
        </p:blipFill>
        <p:spPr>
          <a:xfrm>
            <a:off x="9098280" y="1691640"/>
            <a:ext cx="2514600" cy="1503680"/>
          </a:xfrm>
          <a:prstGeom prst="rect">
            <a:avLst/>
          </a:prstGeom>
        </p:spPr>
      </p:pic>
      <p:sp>
        <p:nvSpPr>
          <p:cNvPr id="10" name="Shape 6"/>
          <p:cNvSpPr/>
          <p:nvPr/>
        </p:nvSpPr>
        <p:spPr>
          <a:xfrm>
            <a:off x="6355080" y="3977640"/>
            <a:ext cx="5257800" cy="1463040"/>
          </a:xfrm>
          <a:prstGeom prst="roundRect">
            <a:avLst>
              <a:gd name="adj" fmla="val 5000"/>
            </a:avLst>
          </a:prstGeom>
          <a:solidFill>
            <a:schemeClr val="accent2"/>
          </a:solidFill>
          <a:ln/>
        </p:spPr>
      </p:sp>
      <p:sp>
        <p:nvSpPr>
          <p:cNvPr id="11" name="Text 7"/>
          <p:cNvSpPr txBox="1"/>
          <p:nvPr/>
        </p:nvSpPr>
        <p:spPr>
          <a:xfrm>
            <a:off x="6629400" y="3977640"/>
            <a:ext cx="2011680" cy="1463040"/>
          </a:xfrm>
          <a:prstGeom prst="rect">
            <a:avLst/>
          </a:prstGeom>
          <a:noFill/>
          <a:ln/>
        </p:spPr>
        <p:txBody>
          <a:bodyPr wrap="square" lIns="0" tIns="0" rIns="0" bIns="0" rtlCol="0" anchor="ctr"/>
          <a:lstStyle/>
          <a:p>
            <a:pPr indent="0" marL="0">
              <a:buNone/>
            </a:pPr>
            <a:r>
              <a:rPr lang="en-US" sz="5400" b="1" dirty="0">
                <a:solidFill>
                  <a:schemeClr val="tx1"/>
                </a:solidFill>
              </a:rPr>
              <a:t>98%</a:t>
            </a:r>
            <a:endParaRPr lang="en-US" sz="5400" dirty="0"/>
          </a:p>
        </p:txBody>
      </p:sp>
      <p:sp>
        <p:nvSpPr>
          <p:cNvPr id="12" name="Text 8"/>
          <p:cNvSpPr txBox="1"/>
          <p:nvPr/>
        </p:nvSpPr>
        <p:spPr>
          <a:xfrm>
            <a:off x="8686800" y="3977640"/>
            <a:ext cx="2743200" cy="1463040"/>
          </a:xfrm>
          <a:prstGeom prst="rect">
            <a:avLst/>
          </a:prstGeom>
          <a:noFill/>
          <a:ln/>
        </p:spPr>
        <p:txBody>
          <a:bodyPr wrap="square" lIns="0" tIns="0" rIns="0" bIns="0" rtlCol="0" anchor="ctr"/>
          <a:lstStyle/>
          <a:p>
            <a:pPr indent="0" marL="0">
              <a:buNone/>
            </a:pPr>
            <a:r>
              <a:rPr lang="en-US" sz="1800" dirty="0">
                <a:solidFill>
                  <a:schemeClr val="tx1"/>
                </a:solidFill>
              </a:rPr>
              <a:t>of this sketch's strokes landed on the model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tx1"/>
                </a:solidFill>
              </a:rPr>
              <a:t>Sketches carry ideas, not depth</a:t>
            </a:r>
            <a:endParaRPr lang="en-US" sz="3800" dirty="0"/>
          </a:p>
        </p:txBody>
      </p:sp>
      <p:sp>
        <p:nvSpPr>
          <p:cNvPr id="3" name="Shape 1"/>
          <p:cNvSpPr/>
          <p:nvPr/>
        </p:nvSpPr>
        <p:spPr>
          <a:xfrm>
            <a:off x="548640" y="1645920"/>
            <a:ext cx="640080" cy="640080"/>
          </a:xfrm>
          <a:prstGeom prst="ellipse">
            <a:avLst/>
          </a:prstGeom>
          <a:solidFill>
            <a:schemeClr val="accent4"/>
          </a:solidFill>
          <a:ln/>
        </p:spPr>
      </p:sp>
      <p:sp>
        <p:nvSpPr>
          <p:cNvPr id="4" name="Text 2"/>
          <p:cNvSpPr txBox="1"/>
          <p:nvPr/>
        </p:nvSpPr>
        <p:spPr>
          <a:xfrm>
            <a:off x="548640" y="1645920"/>
            <a:ext cx="640080" cy="640080"/>
          </a:xfrm>
          <a:prstGeom prst="rect">
            <a:avLst/>
          </a:prstGeom>
          <a:noFill/>
          <a:ln/>
        </p:spPr>
        <p:txBody>
          <a:bodyPr wrap="square" lIns="0" tIns="0" rIns="0" bIns="0" rtlCol="0" anchor="ctr"/>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1</a:t>
            </a:r>
            <a:endParaRPr lang="en-US" sz="2000" dirty="0"/>
          </a:p>
        </p:txBody>
      </p:sp>
      <p:sp>
        <p:nvSpPr>
          <p:cNvPr id="5" name="Text 3"/>
          <p:cNvSpPr txBox="1"/>
          <p:nvPr/>
        </p:nvSpPr>
        <p:spPr>
          <a:xfrm>
            <a:off x="1417320" y="1600200"/>
            <a:ext cx="3657600" cy="411480"/>
          </a:xfrm>
          <a:prstGeom prst="rect">
            <a:avLst/>
          </a:prstGeom>
          <a:noFill/>
          <a:ln/>
        </p:spPr>
        <p:txBody>
          <a:bodyPr wrap="square" lIns="0" tIns="0" rIns="0" bIns="0" rtlCol="0" anchor="ctr"/>
          <a:lstStyle/>
          <a:p>
            <a:pPr indent="0" marL="0">
              <a:buNone/>
            </a:pPr>
            <a:r>
              <a:rPr lang="en-US" sz="2400" b="1" dirty="0">
                <a:solidFill>
                  <a:schemeClr val="tx1"/>
                </a:solidFill>
              </a:rPr>
              <a:t>No depth</a:t>
            </a:r>
            <a:endParaRPr lang="en-US" sz="2400" dirty="0"/>
          </a:p>
        </p:txBody>
      </p:sp>
      <p:sp>
        <p:nvSpPr>
          <p:cNvPr id="6" name="Text 4"/>
          <p:cNvSpPr txBox="1"/>
          <p:nvPr/>
        </p:nvSpPr>
        <p:spPr>
          <a:xfrm>
            <a:off x="1417320" y="2011680"/>
            <a:ext cx="3657600" cy="365760"/>
          </a:xfrm>
          <a:prstGeom prst="rect">
            <a:avLst/>
          </a:prstGeom>
          <a:noFill/>
          <a:ln/>
        </p:spPr>
        <p:txBody>
          <a:bodyPr wrap="square" lIns="0" tIns="0" rIns="0" bIns="0" rtlCol="0" anchor="ctr"/>
          <a:lstStyle/>
          <a:p>
            <a:pPr indent="0" marL="0">
              <a:buNone/>
            </a:pPr>
            <a:r>
              <a:rPr lang="en-US" sz="1600" dirty="0">
                <a:solidFill>
                  <a:schemeClr val="tx2"/>
                </a:solidFill>
              </a:rPr>
              <a:t>One view says nothing about volume</a:t>
            </a:r>
            <a:endParaRPr lang="en-US" sz="1600" dirty="0"/>
          </a:p>
        </p:txBody>
      </p:sp>
      <p:sp>
        <p:nvSpPr>
          <p:cNvPr id="7" name="Shape 5"/>
          <p:cNvSpPr/>
          <p:nvPr/>
        </p:nvSpPr>
        <p:spPr>
          <a:xfrm>
            <a:off x="548640" y="2834640"/>
            <a:ext cx="640080" cy="640080"/>
          </a:xfrm>
          <a:prstGeom prst="ellipse">
            <a:avLst/>
          </a:prstGeom>
          <a:solidFill>
            <a:schemeClr val="accent4"/>
          </a:solidFill>
          <a:ln/>
        </p:spPr>
      </p:sp>
      <p:sp>
        <p:nvSpPr>
          <p:cNvPr id="8" name="Text 6"/>
          <p:cNvSpPr txBox="1"/>
          <p:nvPr/>
        </p:nvSpPr>
        <p:spPr>
          <a:xfrm>
            <a:off x="548640" y="2834640"/>
            <a:ext cx="640080" cy="640080"/>
          </a:xfrm>
          <a:prstGeom prst="rect">
            <a:avLst/>
          </a:prstGeom>
          <a:noFill/>
          <a:ln/>
        </p:spPr>
        <p:txBody>
          <a:bodyPr wrap="square" lIns="0" tIns="0" rIns="0" bIns="0" rtlCol="0" anchor="ctr"/>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2</a:t>
            </a:r>
            <a:endParaRPr lang="en-US" sz="2000" dirty="0"/>
          </a:p>
        </p:txBody>
      </p:sp>
      <p:sp>
        <p:nvSpPr>
          <p:cNvPr id="9" name="Text 7"/>
          <p:cNvSpPr txBox="1"/>
          <p:nvPr/>
        </p:nvSpPr>
        <p:spPr>
          <a:xfrm>
            <a:off x="1417320" y="2788920"/>
            <a:ext cx="3657600" cy="411480"/>
          </a:xfrm>
          <a:prstGeom prst="rect">
            <a:avLst/>
          </a:prstGeom>
          <a:noFill/>
          <a:ln/>
        </p:spPr>
        <p:txBody>
          <a:bodyPr wrap="square" lIns="0" tIns="0" rIns="0" bIns="0" rtlCol="0" anchor="ctr"/>
          <a:lstStyle/>
          <a:p>
            <a:pPr indent="0" marL="0">
              <a:buNone/>
            </a:pPr>
            <a:r>
              <a:rPr lang="en-US" sz="2400" b="1" dirty="0">
                <a:solidFill>
                  <a:schemeClr val="tx1"/>
                </a:solidFill>
              </a:rPr>
              <a:t>No back</a:t>
            </a:r>
            <a:endParaRPr lang="en-US" sz="2400" dirty="0"/>
          </a:p>
        </p:txBody>
      </p:sp>
      <p:sp>
        <p:nvSpPr>
          <p:cNvPr id="10" name="Text 8"/>
          <p:cNvSpPr txBox="1"/>
          <p:nvPr/>
        </p:nvSpPr>
        <p:spPr>
          <a:xfrm>
            <a:off x="1417320" y="3200400"/>
            <a:ext cx="3657600" cy="365760"/>
          </a:xfrm>
          <a:prstGeom prst="rect">
            <a:avLst/>
          </a:prstGeom>
          <a:noFill/>
          <a:ln/>
        </p:spPr>
        <p:txBody>
          <a:bodyPr wrap="square" lIns="0" tIns="0" rIns="0" bIns="0" rtlCol="0" anchor="ctr"/>
          <a:lstStyle/>
          <a:p>
            <a:pPr indent="0" marL="0">
              <a:buNone/>
            </a:pPr>
            <a:r>
              <a:rPr lang="en-US" sz="1600" dirty="0">
                <a:solidFill>
                  <a:schemeClr val="tx2"/>
                </a:solidFill>
              </a:rPr>
              <a:t>Hidden sides must be imagined</a:t>
            </a:r>
            <a:endParaRPr lang="en-US" sz="1600" dirty="0"/>
          </a:p>
        </p:txBody>
      </p:sp>
      <p:sp>
        <p:nvSpPr>
          <p:cNvPr id="11" name="Shape 9"/>
          <p:cNvSpPr/>
          <p:nvPr/>
        </p:nvSpPr>
        <p:spPr>
          <a:xfrm>
            <a:off x="548640" y="4023360"/>
            <a:ext cx="640080" cy="640080"/>
          </a:xfrm>
          <a:prstGeom prst="ellipse">
            <a:avLst/>
          </a:prstGeom>
          <a:solidFill>
            <a:schemeClr val="accent4"/>
          </a:solidFill>
          <a:ln/>
        </p:spPr>
      </p:sp>
      <p:sp>
        <p:nvSpPr>
          <p:cNvPr id="12" name="Text 10"/>
          <p:cNvSpPr txBox="1"/>
          <p:nvPr/>
        </p:nvSpPr>
        <p:spPr>
          <a:xfrm>
            <a:off x="548640" y="4023360"/>
            <a:ext cx="640080" cy="640080"/>
          </a:xfrm>
          <a:prstGeom prst="rect">
            <a:avLst/>
          </a:prstGeom>
          <a:noFill/>
          <a:ln/>
        </p:spPr>
        <p:txBody>
          <a:bodyPr wrap="square" lIns="0" tIns="0" rIns="0" bIns="0" rtlCol="0" anchor="ctr"/>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3</a:t>
            </a:r>
            <a:endParaRPr lang="en-US" sz="2000" dirty="0"/>
          </a:p>
        </p:txBody>
      </p:sp>
      <p:sp>
        <p:nvSpPr>
          <p:cNvPr id="13" name="Text 11"/>
          <p:cNvSpPr txBox="1"/>
          <p:nvPr/>
        </p:nvSpPr>
        <p:spPr>
          <a:xfrm>
            <a:off x="1417320" y="3977640"/>
            <a:ext cx="3657600" cy="411480"/>
          </a:xfrm>
          <a:prstGeom prst="rect">
            <a:avLst/>
          </a:prstGeom>
          <a:noFill/>
          <a:ln/>
        </p:spPr>
        <p:txBody>
          <a:bodyPr wrap="square" lIns="0" tIns="0" rIns="0" bIns="0" rtlCol="0" anchor="ctr"/>
          <a:lstStyle/>
          <a:p>
            <a:pPr indent="0" marL="0">
              <a:buNone/>
            </a:pPr>
            <a:r>
              <a:rPr lang="en-US" sz="2400" b="1" dirty="0">
                <a:solidFill>
                  <a:schemeClr val="tx1"/>
                </a:solidFill>
              </a:rPr>
              <a:t>Rough lines</a:t>
            </a:r>
            <a:endParaRPr lang="en-US" sz="2400" dirty="0"/>
          </a:p>
        </p:txBody>
      </p:sp>
      <p:sp>
        <p:nvSpPr>
          <p:cNvPr id="14" name="Text 12"/>
          <p:cNvSpPr txBox="1"/>
          <p:nvPr/>
        </p:nvSpPr>
        <p:spPr>
          <a:xfrm>
            <a:off x="1417320" y="4389120"/>
            <a:ext cx="3657600" cy="365760"/>
          </a:xfrm>
          <a:prstGeom prst="rect">
            <a:avLst/>
          </a:prstGeom>
          <a:noFill/>
          <a:ln/>
        </p:spPr>
        <p:txBody>
          <a:bodyPr wrap="square" lIns="0" tIns="0" rIns="0" bIns="0" rtlCol="0" anchor="ctr"/>
          <a:lstStyle/>
          <a:p>
            <a:pPr indent="0" marL="0">
              <a:buNone/>
            </a:pPr>
            <a:r>
              <a:rPr lang="en-US" sz="1600" dirty="0">
                <a:solidFill>
                  <a:schemeClr val="tx2"/>
                </a:solidFill>
              </a:rPr>
              <a:t>Edges alone can't build an object</a:t>
            </a:r>
            <a:endParaRPr lang="en-US" sz="1600" dirty="0"/>
          </a:p>
        </p:txBody>
      </p:sp>
      <p:sp>
        <p:nvSpPr>
          <p:cNvPr id="15" name="Shape 13"/>
          <p:cNvSpPr/>
          <p:nvPr/>
        </p:nvSpPr>
        <p:spPr>
          <a:xfrm>
            <a:off x="5440680" y="1600200"/>
            <a:ext cx="2926080" cy="2926080"/>
          </a:xfrm>
          <a:prstGeom prst="roundRect">
            <a:avLst>
              <a:gd name="adj" fmla="val 3125"/>
            </a:avLst>
          </a:prstGeom>
          <a:solidFill>
            <a:schemeClr val="bg1"/>
          </a:solidFill>
          <a:ln w="12700">
            <a:solidFill>
              <a:schemeClr val="accent6"/>
            </a:solidFill>
            <a:prstDash val="solid"/>
          </a:ln>
        </p:spPr>
      </p:sp>
      <p:pic>
        <p:nvPicPr>
          <p:cNvPr id="16" name="Image 0" descr="House sketch">    </p:cNvPr>
          <p:cNvPicPr>
            <a:picLocks noChangeAspect="1"/>
          </p:cNvPicPr>
          <p:nvPr/>
        </p:nvPicPr>
        <p:blipFill>
          <a:blip r:embed="rId1"/>
          <a:stretch>
            <a:fillRect/>
          </a:stretch>
        </p:blipFill>
        <p:spPr>
          <a:xfrm>
            <a:off x="5577840" y="1737360"/>
            <a:ext cx="2651760" cy="2651760"/>
          </a:xfrm>
          <a:prstGeom prst="rect">
            <a:avLst/>
          </a:prstGeom>
        </p:spPr>
      </p:pic>
      <p:sp>
        <p:nvSpPr>
          <p:cNvPr id="17" name="Shape 14"/>
          <p:cNvSpPr/>
          <p:nvPr/>
        </p:nvSpPr>
        <p:spPr>
          <a:xfrm>
            <a:off x="8503920" y="3063240"/>
            <a:ext cx="365760" cy="0"/>
          </a:xfrm>
          <a:prstGeom prst="line">
            <a:avLst/>
          </a:prstGeom>
          <a:noFill/>
          <a:ln w="28575">
            <a:solidFill>
              <a:schemeClr val="accent1"/>
            </a:solidFill>
            <a:prstDash val="solid"/>
            <a:tailEnd type="triangle"/>
          </a:ln>
        </p:spPr>
      </p:sp>
      <p:pic>
        <p:nvPicPr>
          <p:cNvPr id="18" name="Image 1" descr="3D house model">    </p:cNvPr>
          <p:cNvPicPr>
            <a:picLocks noChangeAspect="1"/>
          </p:cNvPicPr>
          <p:nvPr/>
        </p:nvPicPr>
        <p:blipFill>
          <a:blip r:embed="rId2"/>
          <a:stretch>
            <a:fillRect/>
          </a:stretch>
        </p:blipFill>
        <p:spPr>
          <a:xfrm>
            <a:off x="9006840" y="1920240"/>
            <a:ext cx="2606040" cy="1558359"/>
          </a:xfrm>
          <a:prstGeom prst="rect">
            <a:avLst/>
          </a:prstGeom>
        </p:spPr>
      </p:pic>
      <p:sp>
        <p:nvSpPr>
          <p:cNvPr id="19" name="Text 15"/>
          <p:cNvSpPr txBox="1"/>
          <p:nvPr/>
        </p:nvSpPr>
        <p:spPr>
          <a:xfrm>
            <a:off x="9006840" y="3611880"/>
            <a:ext cx="2606040" cy="3200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real 3D, real texture</a:t>
            </a:r>
            <a:endParaRPr lang="en-US" sz="1400" dirty="0"/>
          </a:p>
        </p:txBody>
      </p:sp>
      <p:sp>
        <p:nvSpPr>
          <p:cNvPr id="20" name="Shape 16"/>
          <p:cNvSpPr/>
          <p:nvPr/>
        </p:nvSpPr>
        <p:spPr>
          <a:xfrm>
            <a:off x="548640" y="5120640"/>
            <a:ext cx="11064240" cy="868680"/>
          </a:xfrm>
          <a:prstGeom prst="roundRect">
            <a:avLst>
              <a:gd name="adj" fmla="val 10526"/>
            </a:avLst>
          </a:prstGeom>
          <a:solidFill>
            <a:schemeClr val="tx1"/>
          </a:solidFill>
          <a:ln/>
        </p:spPr>
      </p:sp>
      <p:sp>
        <p:nvSpPr>
          <p:cNvPr id="21" name="Text 17"/>
          <p:cNvSpPr txBox="1"/>
          <p:nvPr/>
        </p:nvSpPr>
        <p:spPr>
          <a:xfrm>
            <a:off x="822960" y="5120640"/>
            <a:ext cx="10515600" cy="868680"/>
          </a:xfrm>
          <a:prstGeom prst="rect">
            <a:avLst/>
          </a:prstGeom>
          <a:noFill/>
          <a:ln/>
        </p:spPr>
        <p:txBody>
          <a:bodyPr wrap="square" lIns="0" tIns="0" rIns="0" bIns="0" rtlCol="0" anchor="ctr"/>
          <a:lstStyle/>
          <a:p>
            <a:pPr indent="0" marL="0">
              <a:buNone/>
            </a:pPr>
            <a:r>
              <a:rPr lang="en-US" sz="2000" b="1" dirty="0">
                <a:solidFill>
                  <a:schemeClr val="accent2"/>
                </a:solidFill>
              </a:rPr>
              <a:t>Goal  </a:t>
            </a:r>
            <a:pPr indent="0" marL="0">
              <a:buNone/>
            </a:pPr>
            <a:r>
              <a:rPr lang="en-US" sz="2000" dirty="0">
                <a:solidFill>
                  <a:schemeClr val="bg2"/>
                </a:solidFill>
              </a:rPr>
              <a:t>Keep the sketch's shape. Imagine the rest. Export a file any 3D tool can open.</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tx1"/>
                </a:solidFill>
              </a:rPr>
              <a:t>Seven stages, with checks that retry</a:t>
            </a:r>
            <a:endParaRPr lang="en-US" sz="3800" dirty="0"/>
          </a:p>
        </p:txBody>
      </p:sp>
      <p:sp>
        <p:nvSpPr>
          <p:cNvPr id="3" name="Shape 1"/>
          <p:cNvSpPr/>
          <p:nvPr/>
        </p:nvSpPr>
        <p:spPr>
          <a:xfrm>
            <a:off x="571500" y="2057400"/>
            <a:ext cx="1417320" cy="1143000"/>
          </a:xfrm>
          <a:prstGeom prst="roundRect">
            <a:avLst>
              <a:gd name="adj" fmla="val 8000"/>
            </a:avLst>
          </a:prstGeom>
          <a:solidFill>
            <a:schemeClr val="accent4"/>
          </a:solidFill>
          <a:ln w="12700">
            <a:solidFill>
              <a:schemeClr val="accent1"/>
            </a:solidFill>
            <a:prstDash val="solid"/>
          </a:ln>
        </p:spPr>
      </p:sp>
      <p:sp>
        <p:nvSpPr>
          <p:cNvPr id="4" name="Text 2"/>
          <p:cNvSpPr txBox="1"/>
          <p:nvPr/>
        </p:nvSpPr>
        <p:spPr>
          <a:xfrm>
            <a:off x="644652" y="2057400"/>
            <a:ext cx="1271016" cy="1143000"/>
          </a:xfrm>
          <a:prstGeom prst="rect">
            <a:avLst/>
          </a:prstGeom>
          <a:noFill/>
          <a:ln/>
        </p:spPr>
        <p:txBody>
          <a:bodyPr wrap="square" lIns="0" tIns="0" rIns="0" bIns="0" rtlCol="0" anchor="ctr"/>
          <a:lstStyle/>
          <a:p>
            <a:pPr algn="ctr" indent="0" marL="0">
              <a:buNone/>
            </a:pPr>
            <a:r>
              <a:rPr lang="en-US" sz="1800" b="1" dirty="0">
                <a:solidFill>
                  <a:schemeClr val="tx1"/>
                </a:solidFill>
              </a:rPr>
              <a:t>Clean</a:t>
            </a:r>
            <a:endParaRPr lang="en-US" sz="1800" dirty="0"/>
          </a:p>
          <a:p>
            <a:pPr algn="ctr" indent="0" marL="0">
              <a:buNone/>
            </a:pPr>
            <a:r>
              <a:rPr lang="en-US" sz="1200" dirty="0">
                <a:solidFill>
                  <a:schemeClr val="tx1"/>
                </a:solidFill>
              </a:rPr>
              <a:t>OpenCV</a:t>
            </a:r>
            <a:endParaRPr lang="en-US" sz="1800" dirty="0"/>
          </a:p>
        </p:txBody>
      </p:sp>
      <p:sp>
        <p:nvSpPr>
          <p:cNvPr id="5" name="Shape 3"/>
          <p:cNvSpPr/>
          <p:nvPr/>
        </p:nvSpPr>
        <p:spPr>
          <a:xfrm>
            <a:off x="1997964" y="2628900"/>
            <a:ext cx="164592" cy="0"/>
          </a:xfrm>
          <a:prstGeom prst="line">
            <a:avLst/>
          </a:prstGeom>
          <a:noFill/>
          <a:ln w="28575">
            <a:solidFill>
              <a:schemeClr val="accent1"/>
            </a:solidFill>
            <a:prstDash val="solid"/>
            <a:tailEnd type="triangle"/>
          </a:ln>
        </p:spPr>
      </p:sp>
      <p:sp>
        <p:nvSpPr>
          <p:cNvPr id="6" name="Shape 4"/>
          <p:cNvSpPr/>
          <p:nvPr/>
        </p:nvSpPr>
        <p:spPr>
          <a:xfrm>
            <a:off x="2171700" y="2057400"/>
            <a:ext cx="1417320" cy="1143000"/>
          </a:xfrm>
          <a:prstGeom prst="roundRect">
            <a:avLst>
              <a:gd name="adj" fmla="val 8000"/>
            </a:avLst>
          </a:prstGeom>
          <a:solidFill>
            <a:schemeClr val="accent4"/>
          </a:solidFill>
          <a:ln w="12700">
            <a:solidFill>
              <a:schemeClr val="accent1"/>
            </a:solidFill>
            <a:prstDash val="solid"/>
          </a:ln>
        </p:spPr>
      </p:sp>
      <p:sp>
        <p:nvSpPr>
          <p:cNvPr id="7" name="Text 5"/>
          <p:cNvSpPr txBox="1"/>
          <p:nvPr/>
        </p:nvSpPr>
        <p:spPr>
          <a:xfrm>
            <a:off x="2244852" y="2057400"/>
            <a:ext cx="1271016" cy="1143000"/>
          </a:xfrm>
          <a:prstGeom prst="rect">
            <a:avLst/>
          </a:prstGeom>
          <a:noFill/>
          <a:ln/>
        </p:spPr>
        <p:txBody>
          <a:bodyPr wrap="square" lIns="0" tIns="0" rIns="0" bIns="0" rtlCol="0" anchor="ctr"/>
          <a:lstStyle/>
          <a:p>
            <a:pPr algn="ctr" indent="0" marL="0">
              <a:buNone/>
            </a:pPr>
            <a:r>
              <a:rPr lang="en-US" sz="1800" b="1" dirty="0">
                <a:solidFill>
                  <a:schemeClr val="tx1"/>
                </a:solidFill>
              </a:rPr>
              <a:t>Understand</a:t>
            </a:r>
            <a:endParaRPr lang="en-US" sz="1800" dirty="0"/>
          </a:p>
          <a:p>
            <a:pPr algn="ctr" indent="0" marL="0">
              <a:buNone/>
            </a:pPr>
            <a:r>
              <a:rPr lang="en-US" sz="1200" dirty="0">
                <a:solidFill>
                  <a:schemeClr val="tx1"/>
                </a:solidFill>
              </a:rPr>
              <a:t>CLIP</a:t>
            </a:r>
            <a:endParaRPr lang="en-US" sz="1800" dirty="0"/>
          </a:p>
        </p:txBody>
      </p:sp>
      <p:sp>
        <p:nvSpPr>
          <p:cNvPr id="8" name="Shape 6"/>
          <p:cNvSpPr/>
          <p:nvPr/>
        </p:nvSpPr>
        <p:spPr>
          <a:xfrm>
            <a:off x="3598164" y="2628900"/>
            <a:ext cx="164592" cy="0"/>
          </a:xfrm>
          <a:prstGeom prst="line">
            <a:avLst/>
          </a:prstGeom>
          <a:noFill/>
          <a:ln w="28575">
            <a:solidFill>
              <a:schemeClr val="accent1"/>
            </a:solidFill>
            <a:prstDash val="solid"/>
            <a:tailEnd type="triangle"/>
          </a:ln>
        </p:spPr>
      </p:sp>
      <p:sp>
        <p:nvSpPr>
          <p:cNvPr id="9" name="Shape 7"/>
          <p:cNvSpPr/>
          <p:nvPr/>
        </p:nvSpPr>
        <p:spPr>
          <a:xfrm>
            <a:off x="3771900" y="2057400"/>
            <a:ext cx="1417320" cy="1143000"/>
          </a:xfrm>
          <a:prstGeom prst="roundRect">
            <a:avLst>
              <a:gd name="adj" fmla="val 8000"/>
            </a:avLst>
          </a:prstGeom>
          <a:solidFill>
            <a:schemeClr val="accent4"/>
          </a:solidFill>
          <a:ln w="12700">
            <a:solidFill>
              <a:schemeClr val="accent1"/>
            </a:solidFill>
            <a:prstDash val="solid"/>
          </a:ln>
        </p:spPr>
      </p:sp>
      <p:sp>
        <p:nvSpPr>
          <p:cNvPr id="10" name="Text 8"/>
          <p:cNvSpPr txBox="1"/>
          <p:nvPr/>
        </p:nvSpPr>
        <p:spPr>
          <a:xfrm>
            <a:off x="3845052" y="2057400"/>
            <a:ext cx="1271016" cy="1143000"/>
          </a:xfrm>
          <a:prstGeom prst="rect">
            <a:avLst/>
          </a:prstGeom>
          <a:noFill/>
          <a:ln/>
        </p:spPr>
        <p:txBody>
          <a:bodyPr wrap="square" lIns="0" tIns="0" rIns="0" bIns="0" rtlCol="0" anchor="ctr"/>
          <a:lstStyle/>
          <a:p>
            <a:pPr algn="ctr" indent="0" marL="0">
              <a:buNone/>
            </a:pPr>
            <a:r>
              <a:rPr lang="en-US" sz="1800" b="1" dirty="0">
                <a:solidFill>
                  <a:schemeClr val="tx1"/>
                </a:solidFill>
              </a:rPr>
              <a:t>Paint</a:t>
            </a:r>
            <a:endParaRPr lang="en-US" sz="1800" dirty="0"/>
          </a:p>
          <a:p>
            <a:pPr algn="ctr" indent="0" marL="0">
              <a:buNone/>
            </a:pPr>
            <a:r>
              <a:rPr lang="en-US" sz="1200" dirty="0">
                <a:solidFill>
                  <a:schemeClr val="tx1"/>
                </a:solidFill>
              </a:rPr>
              <a:t>SD 1.5 + ControlNet</a:t>
            </a:r>
            <a:endParaRPr lang="en-US" sz="1800" dirty="0"/>
          </a:p>
        </p:txBody>
      </p:sp>
      <p:sp>
        <p:nvSpPr>
          <p:cNvPr id="11" name="Shape 9"/>
          <p:cNvSpPr/>
          <p:nvPr/>
        </p:nvSpPr>
        <p:spPr>
          <a:xfrm>
            <a:off x="5198364" y="2628900"/>
            <a:ext cx="164592" cy="0"/>
          </a:xfrm>
          <a:prstGeom prst="line">
            <a:avLst/>
          </a:prstGeom>
          <a:noFill/>
          <a:ln w="28575">
            <a:solidFill>
              <a:schemeClr val="accent1"/>
            </a:solidFill>
            <a:prstDash val="solid"/>
            <a:tailEnd type="triangle"/>
          </a:ln>
        </p:spPr>
      </p:sp>
      <p:sp>
        <p:nvSpPr>
          <p:cNvPr id="12" name="Shape 10"/>
          <p:cNvSpPr/>
          <p:nvPr/>
        </p:nvSpPr>
        <p:spPr>
          <a:xfrm>
            <a:off x="5372100" y="2057400"/>
            <a:ext cx="1417320" cy="1143000"/>
          </a:xfrm>
          <a:prstGeom prst="roundRect">
            <a:avLst>
              <a:gd name="adj" fmla="val 8000"/>
            </a:avLst>
          </a:prstGeom>
          <a:solidFill>
            <a:schemeClr val="accent4"/>
          </a:solidFill>
          <a:ln w="12700">
            <a:solidFill>
              <a:schemeClr val="accent1"/>
            </a:solidFill>
            <a:prstDash val="solid"/>
          </a:ln>
        </p:spPr>
      </p:sp>
      <p:sp>
        <p:nvSpPr>
          <p:cNvPr id="13" name="Text 11"/>
          <p:cNvSpPr txBox="1"/>
          <p:nvPr/>
        </p:nvSpPr>
        <p:spPr>
          <a:xfrm>
            <a:off x="5445252" y="2057400"/>
            <a:ext cx="1271016" cy="1143000"/>
          </a:xfrm>
          <a:prstGeom prst="rect">
            <a:avLst/>
          </a:prstGeom>
          <a:noFill/>
          <a:ln/>
        </p:spPr>
        <p:txBody>
          <a:bodyPr wrap="square" lIns="0" tIns="0" rIns="0" bIns="0" rtlCol="0" anchor="ctr"/>
          <a:lstStyle/>
          <a:p>
            <a:pPr algn="ctr" indent="0" marL="0">
              <a:buNone/>
            </a:pPr>
            <a:r>
              <a:rPr lang="en-US" sz="1800" b="1" dirty="0">
                <a:solidFill>
                  <a:schemeClr val="tx1"/>
                </a:solidFill>
              </a:rPr>
              <a:t>Isolate</a:t>
            </a:r>
            <a:endParaRPr lang="en-US" sz="1800" dirty="0"/>
          </a:p>
          <a:p>
            <a:pPr algn="ctr" indent="0" marL="0">
              <a:buNone/>
            </a:pPr>
            <a:r>
              <a:rPr lang="en-US" sz="1200" dirty="0">
                <a:solidFill>
                  <a:schemeClr val="tx1"/>
                </a:solidFill>
              </a:rPr>
              <a:t>rembg</a:t>
            </a:r>
            <a:endParaRPr lang="en-US" sz="1800" dirty="0"/>
          </a:p>
        </p:txBody>
      </p:sp>
      <p:sp>
        <p:nvSpPr>
          <p:cNvPr id="14" name="Shape 12"/>
          <p:cNvSpPr/>
          <p:nvPr/>
        </p:nvSpPr>
        <p:spPr>
          <a:xfrm>
            <a:off x="6798564" y="2628900"/>
            <a:ext cx="164592" cy="0"/>
          </a:xfrm>
          <a:prstGeom prst="line">
            <a:avLst/>
          </a:prstGeom>
          <a:noFill/>
          <a:ln w="28575">
            <a:solidFill>
              <a:schemeClr val="accent1"/>
            </a:solidFill>
            <a:prstDash val="solid"/>
            <a:tailEnd type="triangle"/>
          </a:ln>
        </p:spPr>
      </p:sp>
      <p:sp>
        <p:nvSpPr>
          <p:cNvPr id="15" name="Shape 13"/>
          <p:cNvSpPr/>
          <p:nvPr/>
        </p:nvSpPr>
        <p:spPr>
          <a:xfrm>
            <a:off x="6972300" y="2057400"/>
            <a:ext cx="1417320" cy="1143000"/>
          </a:xfrm>
          <a:prstGeom prst="roundRect">
            <a:avLst>
              <a:gd name="adj" fmla="val 8000"/>
            </a:avLst>
          </a:prstGeom>
          <a:solidFill>
            <a:schemeClr val="tx1"/>
          </a:solidFill>
          <a:ln w="12700">
            <a:solidFill>
              <a:schemeClr val="tx1"/>
            </a:solidFill>
            <a:prstDash val="solid"/>
          </a:ln>
        </p:spPr>
      </p:sp>
      <p:sp>
        <p:nvSpPr>
          <p:cNvPr id="16" name="Text 14"/>
          <p:cNvSpPr txBox="1"/>
          <p:nvPr/>
        </p:nvSpPr>
        <p:spPr>
          <a:xfrm>
            <a:off x="7045452" y="2057400"/>
            <a:ext cx="1271016" cy="1143000"/>
          </a:xfrm>
          <a:prstGeom prst="rect">
            <a:avLst/>
          </a:prstGeom>
          <a:noFill/>
          <a:ln/>
        </p:spPr>
        <p:txBody>
          <a:bodyPr wrap="square" lIns="0" tIns="0" rIns="0" bIns="0" rtlCol="0" anchor="ctr"/>
          <a:lstStyle/>
          <a:p>
            <a:pPr algn="ctr" indent="0" marL="0">
              <a:buNone/>
            </a:pPr>
            <a:r>
              <a:rPr lang="en-US" sz="1800" b="1" dirty="0">
                <a:solidFill>
                  <a:schemeClr val="bg2"/>
                </a:solidFill>
              </a:rPr>
              <a:t>Build 3D</a:t>
            </a:r>
            <a:endParaRPr lang="en-US" sz="1800" dirty="0"/>
          </a:p>
          <a:p>
            <a:pPr algn="ctr" indent="0" marL="0">
              <a:buNone/>
            </a:pPr>
            <a:r>
              <a:rPr lang="en-US" sz="1200" dirty="0">
                <a:solidFill>
                  <a:schemeClr val="bg2"/>
                </a:solidFill>
              </a:rPr>
              <a:t>TripoSR</a:t>
            </a:r>
            <a:endParaRPr lang="en-US" sz="1800" dirty="0"/>
          </a:p>
        </p:txBody>
      </p:sp>
      <p:sp>
        <p:nvSpPr>
          <p:cNvPr id="17" name="Shape 15"/>
          <p:cNvSpPr/>
          <p:nvPr/>
        </p:nvSpPr>
        <p:spPr>
          <a:xfrm>
            <a:off x="8398764" y="2628900"/>
            <a:ext cx="164592" cy="0"/>
          </a:xfrm>
          <a:prstGeom prst="line">
            <a:avLst/>
          </a:prstGeom>
          <a:noFill/>
          <a:ln w="28575">
            <a:solidFill>
              <a:schemeClr val="accent1"/>
            </a:solidFill>
            <a:prstDash val="solid"/>
            <a:tailEnd type="triangle"/>
          </a:ln>
        </p:spPr>
      </p:sp>
      <p:sp>
        <p:nvSpPr>
          <p:cNvPr id="18" name="Shape 16"/>
          <p:cNvSpPr/>
          <p:nvPr/>
        </p:nvSpPr>
        <p:spPr>
          <a:xfrm>
            <a:off x="8572500" y="2057400"/>
            <a:ext cx="1417320" cy="1143000"/>
          </a:xfrm>
          <a:prstGeom prst="roundRect">
            <a:avLst>
              <a:gd name="adj" fmla="val 8000"/>
            </a:avLst>
          </a:prstGeom>
          <a:solidFill>
            <a:schemeClr val="accent4"/>
          </a:solidFill>
          <a:ln w="12700">
            <a:solidFill>
              <a:schemeClr val="accent1"/>
            </a:solidFill>
            <a:prstDash val="solid"/>
          </a:ln>
        </p:spPr>
      </p:sp>
      <p:sp>
        <p:nvSpPr>
          <p:cNvPr id="19" name="Text 17"/>
          <p:cNvSpPr txBox="1"/>
          <p:nvPr/>
        </p:nvSpPr>
        <p:spPr>
          <a:xfrm>
            <a:off x="8645652" y="2057400"/>
            <a:ext cx="1271016" cy="1143000"/>
          </a:xfrm>
          <a:prstGeom prst="rect">
            <a:avLst/>
          </a:prstGeom>
          <a:noFill/>
          <a:ln/>
        </p:spPr>
        <p:txBody>
          <a:bodyPr wrap="square" lIns="0" tIns="0" rIns="0" bIns="0" rtlCol="0" anchor="ctr"/>
          <a:lstStyle/>
          <a:p>
            <a:pPr algn="ctr" indent="0" marL="0">
              <a:buNone/>
            </a:pPr>
            <a:r>
              <a:rPr lang="en-US" sz="1800" b="1" dirty="0">
                <a:solidFill>
                  <a:schemeClr val="tx1"/>
                </a:solidFill>
              </a:rPr>
              <a:t>Finish</a:t>
            </a:r>
            <a:endParaRPr lang="en-US" sz="1800" dirty="0"/>
          </a:p>
          <a:p>
            <a:pPr algn="ctr" indent="0" marL="0">
              <a:buNone/>
            </a:pPr>
            <a:r>
              <a:rPr lang="en-US" sz="1200" dirty="0">
                <a:solidFill>
                  <a:schemeClr val="tx1"/>
                </a:solidFill>
              </a:rPr>
              <a:t>trimesh, xatlas</a:t>
            </a:r>
            <a:endParaRPr lang="en-US" sz="1800" dirty="0"/>
          </a:p>
        </p:txBody>
      </p:sp>
      <p:sp>
        <p:nvSpPr>
          <p:cNvPr id="20" name="Shape 18"/>
          <p:cNvSpPr/>
          <p:nvPr/>
        </p:nvSpPr>
        <p:spPr>
          <a:xfrm>
            <a:off x="9998964" y="2628900"/>
            <a:ext cx="164592" cy="0"/>
          </a:xfrm>
          <a:prstGeom prst="line">
            <a:avLst/>
          </a:prstGeom>
          <a:noFill/>
          <a:ln w="28575">
            <a:solidFill>
              <a:schemeClr val="accent1"/>
            </a:solidFill>
            <a:prstDash val="solid"/>
            <a:tailEnd type="triangle"/>
          </a:ln>
        </p:spPr>
      </p:sp>
      <p:sp>
        <p:nvSpPr>
          <p:cNvPr id="21" name="Shape 19"/>
          <p:cNvSpPr/>
          <p:nvPr/>
        </p:nvSpPr>
        <p:spPr>
          <a:xfrm>
            <a:off x="10172700" y="2057400"/>
            <a:ext cx="1417320" cy="1143000"/>
          </a:xfrm>
          <a:prstGeom prst="roundRect">
            <a:avLst>
              <a:gd name="adj" fmla="val 8000"/>
            </a:avLst>
          </a:prstGeom>
          <a:solidFill>
            <a:schemeClr val="accent4"/>
          </a:solidFill>
          <a:ln w="12700">
            <a:solidFill>
              <a:schemeClr val="accent1"/>
            </a:solidFill>
            <a:prstDash val="solid"/>
          </a:ln>
        </p:spPr>
      </p:sp>
      <p:sp>
        <p:nvSpPr>
          <p:cNvPr id="22" name="Text 20"/>
          <p:cNvSpPr txBox="1"/>
          <p:nvPr/>
        </p:nvSpPr>
        <p:spPr>
          <a:xfrm>
            <a:off x="10245852" y="2057400"/>
            <a:ext cx="1271016" cy="1143000"/>
          </a:xfrm>
          <a:prstGeom prst="rect">
            <a:avLst/>
          </a:prstGeom>
          <a:noFill/>
          <a:ln/>
        </p:spPr>
        <p:txBody>
          <a:bodyPr wrap="square" lIns="0" tIns="0" rIns="0" bIns="0" rtlCol="0" anchor="ctr"/>
          <a:lstStyle/>
          <a:p>
            <a:pPr algn="ctr" indent="0" marL="0">
              <a:buNone/>
            </a:pPr>
            <a:r>
              <a:rPr lang="en-US" sz="1800" b="1" dirty="0">
                <a:solidFill>
                  <a:schemeClr val="tx1"/>
                </a:solidFill>
              </a:rPr>
              <a:t>Validate</a:t>
            </a:r>
            <a:endParaRPr lang="en-US" sz="1800" dirty="0"/>
          </a:p>
          <a:p>
            <a:pPr algn="ctr" indent="0" marL="0">
              <a:buNone/>
            </a:pPr>
            <a:r>
              <a:rPr lang="en-US" sz="1200" dirty="0">
                <a:solidFill>
                  <a:schemeClr val="tx1"/>
                </a:solidFill>
              </a:rPr>
              <a:t>reload, check</a:t>
            </a:r>
            <a:endParaRPr lang="en-US" sz="1800" dirty="0"/>
          </a:p>
        </p:txBody>
      </p:sp>
      <p:sp>
        <p:nvSpPr>
          <p:cNvPr id="23" name="Shape 21"/>
          <p:cNvSpPr/>
          <p:nvPr/>
        </p:nvSpPr>
        <p:spPr>
          <a:xfrm>
            <a:off x="4480560" y="1691640"/>
            <a:ext cx="6400800" cy="0"/>
          </a:xfrm>
          <a:prstGeom prst="line">
            <a:avLst/>
          </a:prstGeom>
          <a:noFill/>
          <a:ln w="22225">
            <a:solidFill>
              <a:schemeClr val="accent3"/>
            </a:solidFill>
            <a:prstDash val="dash"/>
          </a:ln>
        </p:spPr>
      </p:sp>
      <p:sp>
        <p:nvSpPr>
          <p:cNvPr id="24" name="Shape 22"/>
          <p:cNvSpPr/>
          <p:nvPr/>
        </p:nvSpPr>
        <p:spPr>
          <a:xfrm>
            <a:off x="6080760" y="1691640"/>
            <a:ext cx="0" cy="365760"/>
          </a:xfrm>
          <a:prstGeom prst="line">
            <a:avLst/>
          </a:prstGeom>
          <a:noFill/>
          <a:ln w="22225">
            <a:solidFill>
              <a:schemeClr val="accent3"/>
            </a:solidFill>
            <a:prstDash val="dash"/>
          </a:ln>
        </p:spPr>
      </p:sp>
      <p:sp>
        <p:nvSpPr>
          <p:cNvPr id="25" name="Shape 23"/>
          <p:cNvSpPr/>
          <p:nvPr/>
        </p:nvSpPr>
        <p:spPr>
          <a:xfrm>
            <a:off x="10881360" y="1691640"/>
            <a:ext cx="0" cy="365760"/>
          </a:xfrm>
          <a:prstGeom prst="line">
            <a:avLst/>
          </a:prstGeom>
          <a:noFill/>
          <a:ln w="22225">
            <a:solidFill>
              <a:schemeClr val="accent3"/>
            </a:solidFill>
            <a:prstDash val="dash"/>
          </a:ln>
        </p:spPr>
      </p:sp>
      <p:sp>
        <p:nvSpPr>
          <p:cNvPr id="26" name="Shape 24"/>
          <p:cNvSpPr/>
          <p:nvPr/>
        </p:nvSpPr>
        <p:spPr>
          <a:xfrm>
            <a:off x="4480560" y="1691640"/>
            <a:ext cx="0" cy="365760"/>
          </a:xfrm>
          <a:prstGeom prst="line">
            <a:avLst/>
          </a:prstGeom>
          <a:noFill/>
          <a:ln w="22225">
            <a:solidFill>
              <a:schemeClr val="accent3"/>
            </a:solidFill>
            <a:prstDash val="dash"/>
            <a:tailEnd type="triangle"/>
          </a:ln>
        </p:spPr>
      </p:sp>
      <p:sp>
        <p:nvSpPr>
          <p:cNvPr id="27" name="Text 25"/>
          <p:cNvSpPr txBox="1"/>
          <p:nvPr/>
        </p:nvSpPr>
        <p:spPr>
          <a:xfrm>
            <a:off x="4572000" y="1344168"/>
            <a:ext cx="4572000" cy="292608"/>
          </a:xfrm>
          <a:prstGeom prst="rect">
            <a:avLst/>
          </a:prstGeom>
          <a:noFill/>
          <a:ln/>
        </p:spPr>
        <p:txBody>
          <a:bodyPr wrap="square" lIns="0" tIns="0" rIns="0" bIns="0" rtlCol="0" anchor="ctr"/>
          <a:lstStyle/>
          <a:p>
            <a:pPr indent="0" marL="0">
              <a:buNone/>
            </a:pPr>
            <a:r>
              <a:rPr lang="en-US" sz="1400" b="1" dirty="0">
                <a:solidFill>
                  <a:schemeClr val="accent3"/>
                </a:solidFill>
              </a:rPr>
              <a:t>Failed a check? New seed, up to 3 tries</a:t>
            </a:r>
            <a:endParaRPr lang="en-US" sz="1400" dirty="0"/>
          </a:p>
        </p:txBody>
      </p:sp>
      <p:sp>
        <p:nvSpPr>
          <p:cNvPr id="28" name="Shape 26"/>
          <p:cNvSpPr/>
          <p:nvPr/>
        </p:nvSpPr>
        <p:spPr>
          <a:xfrm>
            <a:off x="571500" y="3611880"/>
            <a:ext cx="1874520" cy="1874520"/>
          </a:xfrm>
          <a:prstGeom prst="roundRect">
            <a:avLst>
              <a:gd name="adj" fmla="val 4878"/>
            </a:avLst>
          </a:prstGeom>
          <a:solidFill>
            <a:schemeClr val="bg1"/>
          </a:solidFill>
          <a:ln w="12700">
            <a:solidFill>
              <a:schemeClr val="accent6"/>
            </a:solidFill>
            <a:prstDash val="solid"/>
          </a:ln>
        </p:spPr>
      </p:sp>
      <p:pic>
        <p:nvPicPr>
          <p:cNvPr id="29" name="Image 0" descr="Vase sketch">    </p:cNvPr>
          <p:cNvPicPr>
            <a:picLocks noChangeAspect="1"/>
          </p:cNvPicPr>
          <p:nvPr/>
        </p:nvPicPr>
        <p:blipFill>
          <a:blip r:embed="rId1"/>
          <a:stretch>
            <a:fillRect/>
          </a:stretch>
        </p:blipFill>
        <p:spPr>
          <a:xfrm>
            <a:off x="617220" y="3657600"/>
            <a:ext cx="1783080" cy="1783080"/>
          </a:xfrm>
          <a:prstGeom prst="rect">
            <a:avLst/>
          </a:prstGeom>
        </p:spPr>
      </p:pic>
      <p:sp>
        <p:nvSpPr>
          <p:cNvPr id="30" name="Text 27"/>
          <p:cNvSpPr txBox="1"/>
          <p:nvPr/>
        </p:nvSpPr>
        <p:spPr>
          <a:xfrm>
            <a:off x="571500" y="5559552"/>
            <a:ext cx="1874520" cy="274320"/>
          </a:xfrm>
          <a:prstGeom prst="rect">
            <a:avLst/>
          </a:prstGeom>
          <a:noFill/>
          <a:ln/>
        </p:spPr>
        <p:txBody>
          <a:bodyPr wrap="square" lIns="0" tIns="0" rIns="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sketch</a:t>
            </a:r>
            <a:endParaRPr lang="en-US" sz="1300" dirty="0"/>
          </a:p>
        </p:txBody>
      </p:sp>
      <p:sp>
        <p:nvSpPr>
          <p:cNvPr id="31" name="Shape 28"/>
          <p:cNvSpPr/>
          <p:nvPr/>
        </p:nvSpPr>
        <p:spPr>
          <a:xfrm>
            <a:off x="2674620" y="3611880"/>
            <a:ext cx="1874520" cy="1874520"/>
          </a:xfrm>
          <a:prstGeom prst="roundRect">
            <a:avLst>
              <a:gd name="adj" fmla="val 4878"/>
            </a:avLst>
          </a:prstGeom>
          <a:solidFill>
            <a:schemeClr val="bg1"/>
          </a:solidFill>
          <a:ln w="12700">
            <a:solidFill>
              <a:schemeClr val="accent6"/>
            </a:solidFill>
            <a:prstDash val="solid"/>
          </a:ln>
        </p:spPr>
      </p:sp>
      <p:pic>
        <p:nvPicPr>
          <p:cNvPr id="32" name="Image 1" descr="Vase image">    </p:cNvPr>
          <p:cNvPicPr>
            <a:picLocks noChangeAspect="1"/>
          </p:cNvPicPr>
          <p:nvPr/>
        </p:nvPicPr>
        <p:blipFill>
          <a:blip r:embed="rId2"/>
          <a:stretch>
            <a:fillRect/>
          </a:stretch>
        </p:blipFill>
        <p:spPr>
          <a:xfrm>
            <a:off x="2720340" y="3657600"/>
            <a:ext cx="1783080" cy="1783080"/>
          </a:xfrm>
          <a:prstGeom prst="rect">
            <a:avLst/>
          </a:prstGeom>
        </p:spPr>
      </p:pic>
      <p:sp>
        <p:nvSpPr>
          <p:cNvPr id="33" name="Text 29"/>
          <p:cNvSpPr txBox="1"/>
          <p:nvPr/>
        </p:nvSpPr>
        <p:spPr>
          <a:xfrm>
            <a:off x="2674620" y="5559552"/>
            <a:ext cx="1874520" cy="274320"/>
          </a:xfrm>
          <a:prstGeom prst="rect">
            <a:avLst/>
          </a:prstGeom>
          <a:noFill/>
          <a:ln/>
        </p:spPr>
        <p:txBody>
          <a:bodyPr wrap="square" lIns="0" tIns="0" rIns="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image</a:t>
            </a:r>
            <a:endParaRPr lang="en-US" sz="1300" dirty="0"/>
          </a:p>
        </p:txBody>
      </p:sp>
      <p:sp>
        <p:nvSpPr>
          <p:cNvPr id="34" name="Shape 30"/>
          <p:cNvSpPr/>
          <p:nvPr/>
        </p:nvSpPr>
        <p:spPr>
          <a:xfrm>
            <a:off x="4777740" y="3611880"/>
            <a:ext cx="6835140" cy="1874520"/>
          </a:xfrm>
          <a:prstGeom prst="roundRect">
            <a:avLst>
              <a:gd name="adj" fmla="val 4878"/>
            </a:avLst>
          </a:prstGeom>
          <a:solidFill>
            <a:schemeClr val="bg1"/>
          </a:solidFill>
          <a:ln w="12700">
            <a:solidFill>
              <a:schemeClr val="accent6"/>
            </a:solidFill>
            <a:prstDash val="solid"/>
          </a:ln>
        </p:spPr>
      </p:sp>
      <p:pic>
        <p:nvPicPr>
          <p:cNvPr id="35" name="Image 2" descr="Vase model rendered from 8 sides">    </p:cNvPr>
          <p:cNvPicPr>
            <a:picLocks noChangeAspect="1"/>
          </p:cNvPicPr>
          <p:nvPr/>
        </p:nvPicPr>
        <p:blipFill>
          <a:blip r:embed="rId3"/>
          <a:stretch>
            <a:fillRect/>
          </a:stretch>
        </p:blipFill>
        <p:spPr>
          <a:xfrm>
            <a:off x="4869180" y="4130488"/>
            <a:ext cx="6652260" cy="831532"/>
          </a:xfrm>
          <a:prstGeom prst="rect">
            <a:avLst/>
          </a:prstGeom>
        </p:spPr>
      </p:pic>
      <p:sp>
        <p:nvSpPr>
          <p:cNvPr id="36" name="Text 31"/>
          <p:cNvSpPr txBox="1"/>
          <p:nvPr/>
        </p:nvSpPr>
        <p:spPr>
          <a:xfrm>
            <a:off x="4777740" y="5559552"/>
            <a:ext cx="6835140" cy="274320"/>
          </a:xfrm>
          <a:prstGeom prst="rect">
            <a:avLst/>
          </a:prstGeom>
          <a:noFill/>
          <a:ln/>
        </p:spPr>
        <p:txBody>
          <a:bodyPr wrap="square" lIns="0" tIns="0" rIns="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3D model from 8 sides. Real run, no prompt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tx1"/>
                </a:solidFill>
              </a:rPr>
              <a:t>Real models, measured on every run</a:t>
            </a:r>
            <a:endParaRPr lang="en-US" sz="3800" dirty="0"/>
          </a:p>
        </p:txBody>
      </p:sp>
      <p:pic>
        <p:nvPicPr>
          <p:cNvPr id="3" name="Image 0" descr="Neat house">    </p:cNvPr>
          <p:cNvPicPr>
            <a:picLocks noChangeAspect="1"/>
          </p:cNvPicPr>
          <p:nvPr/>
        </p:nvPicPr>
        <p:blipFill>
          <a:blip r:embed="rId1"/>
          <a:stretch>
            <a:fillRect/>
          </a:stretch>
        </p:blipFill>
        <p:spPr>
          <a:xfrm>
            <a:off x="548640" y="1463040"/>
            <a:ext cx="2194560" cy="1312303"/>
          </a:xfrm>
          <a:prstGeom prst="rect">
            <a:avLst/>
          </a:prstGeom>
        </p:spPr>
      </p:pic>
      <p:sp>
        <p:nvSpPr>
          <p:cNvPr id="4" name="Text 1"/>
          <p:cNvSpPr txBox="1"/>
          <p:nvPr/>
        </p:nvSpPr>
        <p:spPr>
          <a:xfrm>
            <a:off x="2926080" y="1463040"/>
            <a:ext cx="1828800" cy="1335024"/>
          </a:xfrm>
          <a:prstGeom prst="rect">
            <a:avLst/>
          </a:prstGeom>
          <a:noFill/>
          <a:ln/>
        </p:spPr>
        <p:txBody>
          <a:bodyPr wrap="square" lIns="0" tIns="0" rIns="0" bIns="0" rtlCol="0" anchor="ctr"/>
          <a:lstStyle/>
          <a:p>
            <a:pPr indent="0" marL="0">
              <a:buNone/>
            </a:pPr>
            <a:r>
              <a:rPr lang="en-US" sz="1800" b="1" dirty="0">
                <a:solidFill>
                  <a:schemeClr val="tx1"/>
                </a:solidFill>
              </a:rPr>
              <a:t>Neat house</a:t>
            </a:r>
            <a:endParaRPr lang="en-US" sz="1800" dirty="0"/>
          </a:p>
          <a:p>
            <a:pPr indent="0" marL="0">
              <a:buNone/>
            </a:pPr>
            <a:r>
              <a:rPr lang="en-US" sz="1500" b="1" dirty="0">
                <a:solidFill>
                  <a:schemeClr val="accent1"/>
                </a:solidFill>
              </a:rPr>
              <a:t>98% match</a:t>
            </a:r>
            <a:endParaRPr lang="en-US" sz="1800" dirty="0"/>
          </a:p>
        </p:txBody>
      </p:sp>
      <p:pic>
        <p:nvPicPr>
          <p:cNvPr id="5" name="Image 1" descr="Rough vase">    </p:cNvPr>
          <p:cNvPicPr>
            <a:picLocks noChangeAspect="1"/>
          </p:cNvPicPr>
          <p:nvPr/>
        </p:nvPicPr>
        <p:blipFill>
          <a:blip r:embed="rId2"/>
          <a:stretch>
            <a:fillRect/>
          </a:stretch>
        </p:blipFill>
        <p:spPr>
          <a:xfrm>
            <a:off x="548640" y="3035808"/>
            <a:ext cx="2194560" cy="1312303"/>
          </a:xfrm>
          <a:prstGeom prst="rect">
            <a:avLst/>
          </a:prstGeom>
        </p:spPr>
      </p:pic>
      <p:sp>
        <p:nvSpPr>
          <p:cNvPr id="6" name="Text 2"/>
          <p:cNvSpPr txBox="1"/>
          <p:nvPr/>
        </p:nvSpPr>
        <p:spPr>
          <a:xfrm>
            <a:off x="2926080" y="3035808"/>
            <a:ext cx="1828800" cy="1335024"/>
          </a:xfrm>
          <a:prstGeom prst="rect">
            <a:avLst/>
          </a:prstGeom>
          <a:noFill/>
          <a:ln/>
        </p:spPr>
        <p:txBody>
          <a:bodyPr wrap="square" lIns="0" tIns="0" rIns="0" bIns="0" rtlCol="0" anchor="ctr"/>
          <a:lstStyle/>
          <a:p>
            <a:pPr indent="0" marL="0">
              <a:buNone/>
            </a:pPr>
            <a:r>
              <a:rPr lang="en-US" sz="1800" b="1" dirty="0">
                <a:solidFill>
                  <a:schemeClr val="tx1"/>
                </a:solidFill>
              </a:rPr>
              <a:t>Rough vase</a:t>
            </a:r>
            <a:endParaRPr lang="en-US" sz="1800" dirty="0"/>
          </a:p>
          <a:p>
            <a:pPr indent="0" marL="0">
              <a:buNone/>
            </a:pPr>
            <a:r>
              <a:rPr lang="en-US" sz="1500" b="1" dirty="0">
                <a:solidFill>
                  <a:schemeClr val="accent1"/>
                </a:solidFill>
              </a:rPr>
              <a:t>85% match</a:t>
            </a:r>
            <a:endParaRPr lang="en-US" sz="1800" dirty="0"/>
          </a:p>
        </p:txBody>
      </p:sp>
      <p:pic>
        <p:nvPicPr>
          <p:cNvPr id="7" name="Image 2" descr="Uploaded mug">    </p:cNvPr>
          <p:cNvPicPr>
            <a:picLocks noChangeAspect="1"/>
          </p:cNvPicPr>
          <p:nvPr/>
        </p:nvPicPr>
        <p:blipFill>
          <a:blip r:embed="rId3"/>
          <a:stretch>
            <a:fillRect/>
          </a:stretch>
        </p:blipFill>
        <p:spPr>
          <a:xfrm>
            <a:off x="548640" y="4608576"/>
            <a:ext cx="2194560" cy="1312303"/>
          </a:xfrm>
          <a:prstGeom prst="rect">
            <a:avLst/>
          </a:prstGeom>
        </p:spPr>
      </p:pic>
      <p:sp>
        <p:nvSpPr>
          <p:cNvPr id="8" name="Text 3"/>
          <p:cNvSpPr txBox="1"/>
          <p:nvPr/>
        </p:nvSpPr>
        <p:spPr>
          <a:xfrm>
            <a:off x="2926080" y="4608576"/>
            <a:ext cx="1828800" cy="1335024"/>
          </a:xfrm>
          <a:prstGeom prst="rect">
            <a:avLst/>
          </a:prstGeom>
          <a:noFill/>
          <a:ln/>
        </p:spPr>
        <p:txBody>
          <a:bodyPr wrap="square" lIns="0" tIns="0" rIns="0" bIns="0" rtlCol="0" anchor="ctr"/>
          <a:lstStyle/>
          <a:p>
            <a:pPr indent="0" marL="0">
              <a:buNone/>
            </a:pPr>
            <a:r>
              <a:rPr lang="en-US" sz="1800" b="1" dirty="0">
                <a:solidFill>
                  <a:schemeClr val="tx1"/>
                </a:solidFill>
              </a:rPr>
              <a:t>Uploaded mug</a:t>
            </a:r>
            <a:endParaRPr lang="en-US" sz="1800" dirty="0"/>
          </a:p>
          <a:p>
            <a:pPr indent="0" marL="0">
              <a:buNone/>
            </a:pPr>
            <a:r>
              <a:rPr lang="en-US" sz="1500" b="1" dirty="0">
                <a:solidFill>
                  <a:schemeClr val="accent1"/>
                </a:solidFill>
              </a:rPr>
              <a:t>98% match</a:t>
            </a:r>
            <a:endParaRPr lang="en-US" sz="1800" dirty="0"/>
          </a:p>
        </p:txBody>
      </p:sp>
      <p:sp>
        <p:nvSpPr>
          <p:cNvPr id="9" name="Shape 4"/>
          <p:cNvSpPr/>
          <p:nvPr/>
        </p:nvSpPr>
        <p:spPr>
          <a:xfrm>
            <a:off x="5120640" y="1463040"/>
            <a:ext cx="3154680" cy="1691640"/>
          </a:xfrm>
          <a:prstGeom prst="roundRect">
            <a:avLst>
              <a:gd name="adj" fmla="val 5405"/>
            </a:avLst>
          </a:prstGeom>
          <a:solidFill>
            <a:schemeClr val="accent5"/>
          </a:solidFill>
          <a:ln w="12700">
            <a:solidFill>
              <a:schemeClr val="accent6"/>
            </a:solidFill>
            <a:prstDash val="solid"/>
          </a:ln>
        </p:spPr>
      </p:sp>
      <p:sp>
        <p:nvSpPr>
          <p:cNvPr id="10" name="Text 5"/>
          <p:cNvSpPr txBox="1"/>
          <p:nvPr/>
        </p:nvSpPr>
        <p:spPr>
          <a:xfrm>
            <a:off x="5349240" y="1645920"/>
            <a:ext cx="2743200" cy="868680"/>
          </a:xfrm>
          <a:prstGeom prst="rect">
            <a:avLst/>
          </a:prstGeom>
          <a:noFill/>
          <a:ln/>
        </p:spPr>
        <p:txBody>
          <a:bodyPr wrap="square" lIns="0" tIns="0" rIns="0" bIns="0" rtlCol="0" anchor="ctr"/>
          <a:lstStyle/>
          <a:p>
            <a:pPr indent="0" marL="0">
              <a:buNone/>
            </a:pPr>
            <a:r>
              <a:rPr lang="en-US" sz="4600" b="1" dirty="0">
                <a:solidFill>
                  <a:schemeClr val="tx1"/>
                </a:solidFill>
              </a:rPr>
              <a:t>18 / 18</a:t>
            </a:r>
            <a:endParaRPr lang="en-US" sz="4600" dirty="0"/>
          </a:p>
        </p:txBody>
      </p:sp>
      <p:sp>
        <p:nvSpPr>
          <p:cNvPr id="11" name="Text 6"/>
          <p:cNvSpPr txBox="1"/>
          <p:nvPr/>
        </p:nvSpPr>
        <p:spPr>
          <a:xfrm>
            <a:off x="5349240" y="2532888"/>
            <a:ext cx="2743200" cy="365760"/>
          </a:xfrm>
          <a:prstGeom prst="rect">
            <a:avLst/>
          </a:prstGeom>
          <a:noFill/>
          <a:ln/>
        </p:spPr>
        <p:txBody>
          <a:bodyPr wrap="square" lIns="0" tIns="0" rIns="0" bIns="0" rtlCol="0" anchor="ctr"/>
          <a:lstStyle/>
          <a:p>
            <a:pPr indent="0" marL="0">
              <a:buNone/>
            </a:pPr>
            <a:r>
              <a:rPr lang="en-US" sz="1600" dirty="0">
                <a:solidFill>
                  <a:schemeClr val="tx2"/>
                </a:solidFill>
              </a:rPr>
              <a:t>valid models</a:t>
            </a:r>
            <a:endParaRPr lang="en-US" sz="1600" dirty="0"/>
          </a:p>
        </p:txBody>
      </p:sp>
      <p:sp>
        <p:nvSpPr>
          <p:cNvPr id="12" name="Shape 7"/>
          <p:cNvSpPr/>
          <p:nvPr/>
        </p:nvSpPr>
        <p:spPr>
          <a:xfrm>
            <a:off x="8458200" y="1463040"/>
            <a:ext cx="3154680" cy="1691640"/>
          </a:xfrm>
          <a:prstGeom prst="roundRect">
            <a:avLst>
              <a:gd name="adj" fmla="val 5405"/>
            </a:avLst>
          </a:prstGeom>
          <a:solidFill>
            <a:schemeClr val="accent2"/>
          </a:solidFill>
          <a:ln w="12700">
            <a:solidFill>
              <a:schemeClr val="accent6"/>
            </a:solidFill>
            <a:prstDash val="solid"/>
          </a:ln>
        </p:spPr>
      </p:sp>
      <p:sp>
        <p:nvSpPr>
          <p:cNvPr id="13" name="Text 8"/>
          <p:cNvSpPr txBox="1"/>
          <p:nvPr/>
        </p:nvSpPr>
        <p:spPr>
          <a:xfrm>
            <a:off x="8686800" y="1645920"/>
            <a:ext cx="2743200" cy="868680"/>
          </a:xfrm>
          <a:prstGeom prst="rect">
            <a:avLst/>
          </a:prstGeom>
          <a:noFill/>
          <a:ln/>
        </p:spPr>
        <p:txBody>
          <a:bodyPr wrap="square" lIns="0" tIns="0" rIns="0" bIns="0" rtlCol="0" anchor="ctr"/>
          <a:lstStyle/>
          <a:p>
            <a:pPr indent="0" marL="0">
              <a:buNone/>
            </a:pPr>
            <a:r>
              <a:rPr lang="en-US" sz="4600" b="1" dirty="0">
                <a:solidFill>
                  <a:schemeClr val="tx1"/>
                </a:solidFill>
              </a:rPr>
              <a:t>97%</a:t>
            </a:r>
            <a:endParaRPr lang="en-US" sz="4600" dirty="0"/>
          </a:p>
        </p:txBody>
      </p:sp>
      <p:sp>
        <p:nvSpPr>
          <p:cNvPr id="14" name="Text 9"/>
          <p:cNvSpPr txBox="1"/>
          <p:nvPr/>
        </p:nvSpPr>
        <p:spPr>
          <a:xfrm>
            <a:off x="8686800" y="2532888"/>
            <a:ext cx="2743200" cy="365760"/>
          </a:xfrm>
          <a:prstGeom prst="rect">
            <a:avLst/>
          </a:prstGeom>
          <a:noFill/>
          <a:ln/>
        </p:spPr>
        <p:txBody>
          <a:bodyPr wrap="square" lIns="0" tIns="0" rIns="0" bIns="0" rtlCol="0" anchor="ctr"/>
          <a:lstStyle/>
          <a:p>
            <a:pPr indent="0" marL="0">
              <a:buNone/>
            </a:pPr>
            <a:r>
              <a:rPr lang="en-US" sz="1600" dirty="0">
                <a:solidFill>
                  <a:schemeClr val="tx1"/>
                </a:solidFill>
              </a:rPr>
              <a:t>strokes on the model</a:t>
            </a:r>
            <a:endParaRPr lang="en-US" sz="1600" dirty="0"/>
          </a:p>
        </p:txBody>
      </p:sp>
      <p:sp>
        <p:nvSpPr>
          <p:cNvPr id="15" name="Shape 10"/>
          <p:cNvSpPr/>
          <p:nvPr/>
        </p:nvSpPr>
        <p:spPr>
          <a:xfrm>
            <a:off x="5120640" y="3337560"/>
            <a:ext cx="3154680" cy="1691640"/>
          </a:xfrm>
          <a:prstGeom prst="roundRect">
            <a:avLst>
              <a:gd name="adj" fmla="val 5405"/>
            </a:avLst>
          </a:prstGeom>
          <a:solidFill>
            <a:schemeClr val="accent5"/>
          </a:solidFill>
          <a:ln w="12700">
            <a:solidFill>
              <a:schemeClr val="accent6"/>
            </a:solidFill>
            <a:prstDash val="solid"/>
          </a:ln>
        </p:spPr>
      </p:sp>
      <p:sp>
        <p:nvSpPr>
          <p:cNvPr id="16" name="Text 11"/>
          <p:cNvSpPr txBox="1"/>
          <p:nvPr/>
        </p:nvSpPr>
        <p:spPr>
          <a:xfrm>
            <a:off x="5349240" y="3520440"/>
            <a:ext cx="2743200" cy="868680"/>
          </a:xfrm>
          <a:prstGeom prst="rect">
            <a:avLst/>
          </a:prstGeom>
          <a:noFill/>
          <a:ln/>
        </p:spPr>
        <p:txBody>
          <a:bodyPr wrap="square" lIns="0" tIns="0" rIns="0" bIns="0" rtlCol="0" anchor="ctr"/>
          <a:lstStyle/>
          <a:p>
            <a:pPr indent="0" marL="0">
              <a:buNone/>
            </a:pPr>
            <a:r>
              <a:rPr lang="en-US" sz="4600" b="1" dirty="0">
                <a:solidFill>
                  <a:schemeClr val="tx1"/>
                </a:solidFill>
              </a:rPr>
              <a:t>31 s</a:t>
            </a:r>
            <a:endParaRPr lang="en-US" sz="4600" dirty="0"/>
          </a:p>
        </p:txBody>
      </p:sp>
      <p:sp>
        <p:nvSpPr>
          <p:cNvPr id="17" name="Text 12"/>
          <p:cNvSpPr txBox="1"/>
          <p:nvPr/>
        </p:nvSpPr>
        <p:spPr>
          <a:xfrm>
            <a:off x="5349240" y="4407408"/>
            <a:ext cx="2743200" cy="365760"/>
          </a:xfrm>
          <a:prstGeom prst="rect">
            <a:avLst/>
          </a:prstGeom>
          <a:noFill/>
          <a:ln/>
        </p:spPr>
        <p:txBody>
          <a:bodyPr wrap="square" lIns="0" tIns="0" rIns="0" bIns="0" rtlCol="0" anchor="ctr"/>
          <a:lstStyle/>
          <a:p>
            <a:pPr indent="0" marL="0">
              <a:buNone/>
            </a:pPr>
            <a:r>
              <a:rPr lang="en-US" sz="1600" dirty="0">
                <a:solidFill>
                  <a:schemeClr val="tx2"/>
                </a:solidFill>
              </a:rPr>
              <a:t>per model</a:t>
            </a:r>
            <a:endParaRPr lang="en-US" sz="1600" dirty="0"/>
          </a:p>
        </p:txBody>
      </p:sp>
      <p:sp>
        <p:nvSpPr>
          <p:cNvPr id="18" name="Shape 13"/>
          <p:cNvSpPr/>
          <p:nvPr/>
        </p:nvSpPr>
        <p:spPr>
          <a:xfrm>
            <a:off x="8458200" y="3337560"/>
            <a:ext cx="3154680" cy="1691640"/>
          </a:xfrm>
          <a:prstGeom prst="roundRect">
            <a:avLst>
              <a:gd name="adj" fmla="val 5405"/>
            </a:avLst>
          </a:prstGeom>
          <a:solidFill>
            <a:schemeClr val="accent5"/>
          </a:solidFill>
          <a:ln w="12700">
            <a:solidFill>
              <a:schemeClr val="accent6"/>
            </a:solidFill>
            <a:prstDash val="solid"/>
          </a:ln>
        </p:spPr>
      </p:sp>
      <p:sp>
        <p:nvSpPr>
          <p:cNvPr id="19" name="Text 14"/>
          <p:cNvSpPr txBox="1"/>
          <p:nvPr/>
        </p:nvSpPr>
        <p:spPr>
          <a:xfrm>
            <a:off x="8686800" y="3520440"/>
            <a:ext cx="2743200" cy="868680"/>
          </a:xfrm>
          <a:prstGeom prst="rect">
            <a:avLst/>
          </a:prstGeom>
          <a:noFill/>
          <a:ln/>
        </p:spPr>
        <p:txBody>
          <a:bodyPr wrap="square" lIns="0" tIns="0" rIns="0" bIns="0" rtlCol="0" anchor="ctr"/>
          <a:lstStyle/>
          <a:p>
            <a:pPr indent="0" marL="0">
              <a:buNone/>
            </a:pPr>
            <a:r>
              <a:rPr lang="en-US" sz="4600" b="1" dirty="0">
                <a:solidFill>
                  <a:schemeClr val="tx1"/>
                </a:solidFill>
              </a:rPr>
              <a:t>2.68 GB</a:t>
            </a:r>
            <a:endParaRPr lang="en-US" sz="4600" dirty="0"/>
          </a:p>
        </p:txBody>
      </p:sp>
      <p:sp>
        <p:nvSpPr>
          <p:cNvPr id="20" name="Text 15"/>
          <p:cNvSpPr txBox="1"/>
          <p:nvPr/>
        </p:nvSpPr>
        <p:spPr>
          <a:xfrm>
            <a:off x="8686800" y="4407408"/>
            <a:ext cx="2743200" cy="365760"/>
          </a:xfrm>
          <a:prstGeom prst="rect">
            <a:avLst/>
          </a:prstGeom>
          <a:noFill/>
          <a:ln/>
        </p:spPr>
        <p:txBody>
          <a:bodyPr wrap="square" lIns="0" tIns="0" rIns="0" bIns="0" rtlCol="0" anchor="ctr"/>
          <a:lstStyle/>
          <a:p>
            <a:pPr indent="0" marL="0">
              <a:buNone/>
            </a:pPr>
            <a:r>
              <a:rPr lang="en-US" sz="1600" dirty="0">
                <a:solidFill>
                  <a:schemeClr val="tx2"/>
                </a:solidFill>
              </a:rPr>
              <a:t>peak VRAM</a:t>
            </a:r>
            <a:endParaRPr lang="en-US" sz="1600" dirty="0"/>
          </a:p>
        </p:txBody>
      </p:sp>
      <p:sp>
        <p:nvSpPr>
          <p:cNvPr id="21" name="Text 16"/>
          <p:cNvSpPr txBox="1"/>
          <p:nvPr/>
        </p:nvSpPr>
        <p:spPr>
          <a:xfrm>
            <a:off x="5120640" y="5257800"/>
            <a:ext cx="6492240" cy="731520"/>
          </a:xfrm>
          <a:prstGeom prst="rect">
            <a:avLst/>
          </a:prstGeom>
          <a:noFill/>
          <a:ln/>
        </p:spPr>
        <p:txBody>
          <a:bodyPr wrap="square" lIns="0" tIns="0" rIns="0" bIns="0" rtlCol="0" anchor="t"/>
          <a:lstStyle/>
          <a:p>
            <a:pPr indent="0" marL="0">
              <a:buNone/>
            </a:pPr>
            <a:r>
              <a:rPr lang="en-US" sz="1400" dirty="0">
                <a:solidFill>
                  <a:schemeClr val="tx2"/>
                </a:solidFill>
              </a:rPr>
              <a:t>18 runs on an RX 9070 XT: 2 distinct user sketches plus scripted variations, so not a general accuracy claim. Silhouette IoU averaged 0.65.</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tx1"/>
                </a:solidFill>
              </a:rPr>
              <a:t>It shows its work and checks itself</a:t>
            </a:r>
            <a:endParaRPr lang="en-US" sz="3800" dirty="0"/>
          </a:p>
        </p:txBody>
      </p:sp>
      <p:sp>
        <p:nvSpPr>
          <p:cNvPr id="3" name="Shape 1"/>
          <p:cNvSpPr/>
          <p:nvPr/>
        </p:nvSpPr>
        <p:spPr>
          <a:xfrm>
            <a:off x="548640" y="1463040"/>
            <a:ext cx="3520440" cy="3749040"/>
          </a:xfrm>
          <a:prstGeom prst="roundRect">
            <a:avLst>
              <a:gd name="adj" fmla="val 2597"/>
            </a:avLst>
          </a:prstGeom>
          <a:solidFill>
            <a:schemeClr val="bg1"/>
          </a:solidFill>
          <a:ln w="12700">
            <a:solidFill>
              <a:schemeClr val="accent6"/>
            </a:solidFill>
            <a:prstDash val="solid"/>
          </a:ln>
        </p:spPr>
      </p:sp>
      <p:pic>
        <p:nvPicPr>
          <p:cNvPr id="4" name="Image 0" descr="Sketch match">    </p:cNvPr>
          <p:cNvPicPr>
            <a:picLocks noChangeAspect="1"/>
          </p:cNvPicPr>
          <p:nvPr/>
        </p:nvPicPr>
        <p:blipFill>
          <a:blip r:embed="rId1"/>
          <a:stretch>
            <a:fillRect/>
          </a:stretch>
        </p:blipFill>
        <p:spPr>
          <a:xfrm>
            <a:off x="827903" y="1600200"/>
            <a:ext cx="2961915" cy="2331720"/>
          </a:xfrm>
          <a:prstGeom prst="rect">
            <a:avLst/>
          </a:prstGeom>
        </p:spPr>
      </p:pic>
      <p:sp>
        <p:nvSpPr>
          <p:cNvPr id="5" name="Text 2"/>
          <p:cNvSpPr txBox="1"/>
          <p:nvPr/>
        </p:nvSpPr>
        <p:spPr>
          <a:xfrm>
            <a:off x="731520" y="4023360"/>
            <a:ext cx="3154680" cy="365760"/>
          </a:xfrm>
          <a:prstGeom prst="rect">
            <a:avLst/>
          </a:prstGeom>
          <a:noFill/>
          <a:ln/>
        </p:spPr>
        <p:txBody>
          <a:bodyPr wrap="square" lIns="0" tIns="0" rIns="0" bIns="0" rtlCol="0" anchor="ctr"/>
          <a:lstStyle/>
          <a:p>
            <a:pPr indent="0" marL="0">
              <a:buNone/>
            </a:pPr>
            <a:r>
              <a:rPr lang="en-US" sz="2000" b="1" dirty="0">
                <a:solidFill>
                  <a:schemeClr val="tx1"/>
                </a:solidFill>
              </a:rPr>
              <a:t>Sketch match</a:t>
            </a:r>
            <a:endParaRPr lang="en-US" sz="2000" dirty="0"/>
          </a:p>
        </p:txBody>
      </p:sp>
      <p:sp>
        <p:nvSpPr>
          <p:cNvPr id="6" name="Text 3"/>
          <p:cNvSpPr txBox="1"/>
          <p:nvPr/>
        </p:nvSpPr>
        <p:spPr>
          <a:xfrm>
            <a:off x="731520" y="4389120"/>
            <a:ext cx="3154680" cy="685800"/>
          </a:xfrm>
          <a:prstGeom prst="rect">
            <a:avLst/>
          </a:prstGeom>
          <a:noFill/>
          <a:ln/>
        </p:spPr>
        <p:txBody>
          <a:bodyPr wrap="square" lIns="0" tIns="0" rIns="0" bIns="0" rtlCol="0" anchor="t"/>
          <a:lstStyle/>
          <a:p>
            <a:pPr indent="0" marL="0">
              <a:buNone/>
            </a:pPr>
            <a:r>
              <a:rPr lang="en-US" sz="1500" dirty="0">
                <a:solidFill>
                  <a:schemeClr val="tx2"/>
                </a:solidFill>
              </a:rPr>
              <a:t>Your strokes over the model. Teal hit, dashed red missed.</a:t>
            </a:r>
            <a:endParaRPr lang="en-US" sz="1500" dirty="0"/>
          </a:p>
        </p:txBody>
      </p:sp>
      <p:sp>
        <p:nvSpPr>
          <p:cNvPr id="7" name="Shape 4"/>
          <p:cNvSpPr/>
          <p:nvPr/>
        </p:nvSpPr>
        <p:spPr>
          <a:xfrm>
            <a:off x="4343400" y="1463040"/>
            <a:ext cx="3520440" cy="3749040"/>
          </a:xfrm>
          <a:prstGeom prst="roundRect">
            <a:avLst>
              <a:gd name="adj" fmla="val 2597"/>
            </a:avLst>
          </a:prstGeom>
          <a:solidFill>
            <a:schemeClr val="bg1"/>
          </a:solidFill>
          <a:ln w="12700">
            <a:solidFill>
              <a:schemeClr val="accent6"/>
            </a:solidFill>
            <a:prstDash val="solid"/>
          </a:ln>
        </p:spPr>
      </p:sp>
      <p:pic>
        <p:nvPicPr>
          <p:cNvPr id="8" name="Image 1" descr="Ranked variants">    </p:cNvPr>
          <p:cNvPicPr>
            <a:picLocks noChangeAspect="1"/>
          </p:cNvPicPr>
          <p:nvPr/>
        </p:nvPicPr>
        <p:blipFill>
          <a:blip r:embed="rId2"/>
          <a:stretch>
            <a:fillRect/>
          </a:stretch>
        </p:blipFill>
        <p:spPr>
          <a:xfrm>
            <a:off x="4480560" y="2352639"/>
            <a:ext cx="3246120" cy="826842"/>
          </a:xfrm>
          <a:prstGeom prst="rect">
            <a:avLst/>
          </a:prstGeom>
        </p:spPr>
      </p:pic>
      <p:sp>
        <p:nvSpPr>
          <p:cNvPr id="9" name="Text 5"/>
          <p:cNvSpPr txBox="1"/>
          <p:nvPr/>
        </p:nvSpPr>
        <p:spPr>
          <a:xfrm>
            <a:off x="4526280" y="4023360"/>
            <a:ext cx="3154680" cy="365760"/>
          </a:xfrm>
          <a:prstGeom prst="rect">
            <a:avLst/>
          </a:prstGeom>
          <a:noFill/>
          <a:ln/>
        </p:spPr>
        <p:txBody>
          <a:bodyPr wrap="square" lIns="0" tIns="0" rIns="0" bIns="0" rtlCol="0" anchor="ctr"/>
          <a:lstStyle/>
          <a:p>
            <a:pPr indent="0" marL="0">
              <a:buNone/>
            </a:pPr>
            <a:r>
              <a:rPr lang="en-US" sz="2000" b="1" dirty="0">
                <a:solidFill>
                  <a:schemeClr val="tx1"/>
                </a:solidFill>
              </a:rPr>
              <a:t>Ranked variants</a:t>
            </a:r>
            <a:endParaRPr lang="en-US" sz="2000" dirty="0"/>
          </a:p>
        </p:txBody>
      </p:sp>
      <p:sp>
        <p:nvSpPr>
          <p:cNvPr id="10" name="Text 6"/>
          <p:cNvSpPr txBox="1"/>
          <p:nvPr/>
        </p:nvSpPr>
        <p:spPr>
          <a:xfrm>
            <a:off x="4526280" y="4389120"/>
            <a:ext cx="3154680" cy="685800"/>
          </a:xfrm>
          <a:prstGeom prst="rect">
            <a:avLst/>
          </a:prstGeom>
          <a:noFill/>
          <a:ln/>
        </p:spPr>
        <p:txBody>
          <a:bodyPr wrap="square" lIns="0" tIns="0" rIns="0" bIns="0" rtlCol="0" anchor="t"/>
          <a:lstStyle/>
          <a:p>
            <a:pPr indent="0" marL="0">
              <a:buNone/>
            </a:pPr>
            <a:r>
              <a:rPr lang="en-US" sz="1500" dirty="0">
                <a:solidFill>
                  <a:schemeClr val="tx2"/>
                </a:solidFill>
              </a:rPr>
              <a:t>Three seeds, best sketch match first.</a:t>
            </a:r>
            <a:endParaRPr lang="en-US" sz="1500" dirty="0"/>
          </a:p>
        </p:txBody>
      </p:sp>
      <p:sp>
        <p:nvSpPr>
          <p:cNvPr id="11" name="Shape 7"/>
          <p:cNvSpPr/>
          <p:nvPr/>
        </p:nvSpPr>
        <p:spPr>
          <a:xfrm>
            <a:off x="8138160" y="1463040"/>
            <a:ext cx="3474720" cy="3749040"/>
          </a:xfrm>
          <a:prstGeom prst="roundRect">
            <a:avLst>
              <a:gd name="adj" fmla="val 2632"/>
            </a:avLst>
          </a:prstGeom>
          <a:solidFill>
            <a:schemeClr val="bg1"/>
          </a:solidFill>
          <a:ln w="12700">
            <a:solidFill>
              <a:schemeClr val="accent6"/>
            </a:solidFill>
            <a:prstDash val="solid"/>
          </a:ln>
        </p:spPr>
      </p:sp>
      <p:pic>
        <p:nvPicPr>
          <p:cNvPr id="12" name="Image 2" descr="Live stages">    </p:cNvPr>
          <p:cNvPicPr>
            <a:picLocks noChangeAspect="1"/>
          </p:cNvPicPr>
          <p:nvPr/>
        </p:nvPicPr>
        <p:blipFill>
          <a:blip r:embed="rId3"/>
          <a:stretch>
            <a:fillRect/>
          </a:stretch>
        </p:blipFill>
        <p:spPr>
          <a:xfrm>
            <a:off x="8275320" y="1602278"/>
            <a:ext cx="3200400" cy="2327564"/>
          </a:xfrm>
          <a:prstGeom prst="rect">
            <a:avLst/>
          </a:prstGeom>
        </p:spPr>
      </p:pic>
      <p:sp>
        <p:nvSpPr>
          <p:cNvPr id="13" name="Text 8"/>
          <p:cNvSpPr txBox="1"/>
          <p:nvPr/>
        </p:nvSpPr>
        <p:spPr>
          <a:xfrm>
            <a:off x="8321040" y="4023360"/>
            <a:ext cx="3108960" cy="365760"/>
          </a:xfrm>
          <a:prstGeom prst="rect">
            <a:avLst/>
          </a:prstGeom>
          <a:noFill/>
          <a:ln/>
        </p:spPr>
        <p:txBody>
          <a:bodyPr wrap="square" lIns="0" tIns="0" rIns="0" bIns="0" rtlCol="0" anchor="ctr"/>
          <a:lstStyle/>
          <a:p>
            <a:pPr indent="0" marL="0">
              <a:buNone/>
            </a:pPr>
            <a:r>
              <a:rPr lang="en-US" sz="2000" b="1" dirty="0">
                <a:solidFill>
                  <a:schemeClr val="tx1"/>
                </a:solidFill>
              </a:rPr>
              <a:t>Live stages</a:t>
            </a:r>
            <a:endParaRPr lang="en-US" sz="2000" dirty="0"/>
          </a:p>
        </p:txBody>
      </p:sp>
      <p:sp>
        <p:nvSpPr>
          <p:cNvPr id="14" name="Text 9"/>
          <p:cNvSpPr txBox="1"/>
          <p:nvPr/>
        </p:nvSpPr>
        <p:spPr>
          <a:xfrm>
            <a:off x="8321040" y="4389120"/>
            <a:ext cx="3108960" cy="685800"/>
          </a:xfrm>
          <a:prstGeom prst="rect">
            <a:avLst/>
          </a:prstGeom>
          <a:noFill/>
          <a:ln/>
        </p:spPr>
        <p:txBody>
          <a:bodyPr wrap="square" lIns="0" tIns="0" rIns="0" bIns="0" rtlCol="0" anchor="t"/>
          <a:lstStyle/>
          <a:p>
            <a:pPr indent="0" marL="0">
              <a:buNone/>
            </a:pPr>
            <a:r>
              <a:rPr lang="en-US" sz="1500" dirty="0">
                <a:solidFill>
                  <a:schemeClr val="tx2"/>
                </a:solidFill>
              </a:rPr>
              <a:t>Every step with its real time.</a:t>
            </a:r>
            <a:endParaRPr lang="en-US" sz="1500" dirty="0"/>
          </a:p>
        </p:txBody>
      </p:sp>
      <p:sp>
        <p:nvSpPr>
          <p:cNvPr id="15" name="Shape 10"/>
          <p:cNvSpPr/>
          <p:nvPr/>
        </p:nvSpPr>
        <p:spPr>
          <a:xfrm>
            <a:off x="548640" y="5440680"/>
            <a:ext cx="3520440" cy="548640"/>
          </a:xfrm>
          <a:prstGeom prst="roundRect">
            <a:avLst>
              <a:gd name="adj" fmla="val 50000"/>
            </a:avLst>
          </a:prstGeom>
          <a:solidFill>
            <a:schemeClr val="accent4"/>
          </a:solidFill>
          <a:ln/>
        </p:spPr>
      </p:sp>
      <p:sp>
        <p:nvSpPr>
          <p:cNvPr id="16" name="Text 11"/>
          <p:cNvSpPr txBox="1"/>
          <p:nvPr/>
        </p:nvSpPr>
        <p:spPr>
          <a:xfrm>
            <a:off x="548640" y="5440680"/>
            <a:ext cx="3520440" cy="548640"/>
          </a:xfrm>
          <a:prstGeom prst="rect">
            <a:avLst/>
          </a:prstGeom>
          <a:noFill/>
          <a:ln/>
        </p:spPr>
        <p:txBody>
          <a:bodyPr wrap="square" lIns="0" tIns="0" rIns="0" bIns="0" rtlCol="0" anchor="ctr"/>
          <a:lstStyle/>
          <a:p>
            <a:pPr algn="ctr" indent="0" marL="0">
              <a:buNone/>
            </a:pPr>
            <a:r>
              <a:rPr lang="en-US" sz="1500" b="1" dirty="0">
                <a:solidFill>
                  <a:schemeClr val="tx1"/>
                </a:solidFill>
              </a:rPr>
              <a:t>CLIP names it, no prompt needed</a:t>
            </a:r>
            <a:endParaRPr lang="en-US" sz="1500" dirty="0"/>
          </a:p>
        </p:txBody>
      </p:sp>
      <p:sp>
        <p:nvSpPr>
          <p:cNvPr id="17" name="Shape 12"/>
          <p:cNvSpPr/>
          <p:nvPr/>
        </p:nvSpPr>
        <p:spPr>
          <a:xfrm>
            <a:off x="4343400" y="5440680"/>
            <a:ext cx="3520440" cy="548640"/>
          </a:xfrm>
          <a:prstGeom prst="roundRect">
            <a:avLst>
              <a:gd name="adj" fmla="val 50000"/>
            </a:avLst>
          </a:prstGeom>
          <a:solidFill>
            <a:schemeClr val="accent4"/>
          </a:solidFill>
          <a:ln/>
        </p:spPr>
      </p:sp>
      <p:sp>
        <p:nvSpPr>
          <p:cNvPr id="18" name="Text 13"/>
          <p:cNvSpPr txBox="1"/>
          <p:nvPr/>
        </p:nvSpPr>
        <p:spPr>
          <a:xfrm>
            <a:off x="4343400" y="5440680"/>
            <a:ext cx="3520440" cy="548640"/>
          </a:xfrm>
          <a:prstGeom prst="rect">
            <a:avLst/>
          </a:prstGeom>
          <a:noFill/>
          <a:ln/>
        </p:spPr>
        <p:txBody>
          <a:bodyPr wrap="square" lIns="0" tIns="0" rIns="0" bIns="0" rtlCol="0" anchor="ctr"/>
          <a:lstStyle/>
          <a:p>
            <a:pPr algn="ctr" indent="0" marL="0">
              <a:buNone/>
            </a:pPr>
            <a:r>
              <a:rPr lang="en-US" sz="1500" b="1" dirty="0">
                <a:solidFill>
                  <a:schemeClr val="tx1"/>
                </a:solidFill>
              </a:rPr>
              <a:t>Ink check before slow 3D</a:t>
            </a:r>
            <a:endParaRPr lang="en-US" sz="1500" dirty="0"/>
          </a:p>
        </p:txBody>
      </p:sp>
      <p:sp>
        <p:nvSpPr>
          <p:cNvPr id="19" name="Shape 14"/>
          <p:cNvSpPr/>
          <p:nvPr/>
        </p:nvSpPr>
        <p:spPr>
          <a:xfrm>
            <a:off x="8138160" y="5440680"/>
            <a:ext cx="3474720" cy="548640"/>
          </a:xfrm>
          <a:prstGeom prst="roundRect">
            <a:avLst>
              <a:gd name="adj" fmla="val 50000"/>
            </a:avLst>
          </a:prstGeom>
          <a:solidFill>
            <a:schemeClr val="accent4"/>
          </a:solidFill>
          <a:ln/>
        </p:spPr>
      </p:sp>
      <p:sp>
        <p:nvSpPr>
          <p:cNvPr id="20" name="Text 15"/>
          <p:cNvSpPr txBox="1"/>
          <p:nvPr/>
        </p:nvSpPr>
        <p:spPr>
          <a:xfrm>
            <a:off x="8138160" y="5440680"/>
            <a:ext cx="3474720" cy="548640"/>
          </a:xfrm>
          <a:prstGeom prst="rect">
            <a:avLst/>
          </a:prstGeom>
          <a:noFill/>
          <a:ln/>
        </p:spPr>
        <p:txBody>
          <a:bodyPr wrap="square" lIns="0" tIns="0" rIns="0" bIns="0" rtlCol="0" anchor="ctr"/>
          <a:lstStyle/>
          <a:p>
            <a:pPr algn="ctr" indent="0" marL="0">
              <a:buNone/>
            </a:pPr>
            <a:r>
              <a:rPr lang="en-US" sz="1500" b="1" dirty="0">
                <a:solidFill>
                  <a:schemeClr val="tx1"/>
                </a:solidFill>
              </a:rPr>
              <a:t>Runs on AMD via ROCm</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800" b="1" dirty="0">
                <a:solidFill>
                  <a:schemeClr val="bg2"/>
                </a:solidFill>
              </a:rPr>
              <a:t>Honest limits, real uses, full disclosure</a:t>
            </a:r>
            <a:endParaRPr lang="en-US" sz="3800" dirty="0"/>
          </a:p>
        </p:txBody>
      </p:sp>
      <p:sp>
        <p:nvSpPr>
          <p:cNvPr id="3" name="Shape 1"/>
          <p:cNvSpPr/>
          <p:nvPr/>
        </p:nvSpPr>
        <p:spPr>
          <a:xfrm>
            <a:off x="548640" y="1463040"/>
            <a:ext cx="3520440" cy="2788920"/>
          </a:xfrm>
          <a:prstGeom prst="roundRect">
            <a:avLst>
              <a:gd name="adj" fmla="val 3279"/>
            </a:avLst>
          </a:prstGeom>
          <a:solidFill>
            <a:srgbClr val="26324F"/>
          </a:solidFill>
          <a:ln/>
        </p:spPr>
      </p:sp>
      <p:sp>
        <p:nvSpPr>
          <p:cNvPr id="4" name="Text 2"/>
          <p:cNvSpPr txBox="1"/>
          <p:nvPr/>
        </p:nvSpPr>
        <p:spPr>
          <a:xfrm>
            <a:off x="777240" y="1645920"/>
            <a:ext cx="3063240" cy="457200"/>
          </a:xfrm>
          <a:prstGeom prst="rect">
            <a:avLst/>
          </a:prstGeom>
          <a:noFill/>
          <a:ln/>
        </p:spPr>
        <p:txBody>
          <a:bodyPr wrap="square" lIns="0" tIns="0" rIns="0" bIns="0" rtlCol="0" anchor="ctr"/>
          <a:lstStyle/>
          <a:p>
            <a:pPr indent="0" marL="0">
              <a:buNone/>
            </a:pPr>
            <a:r>
              <a:rPr lang="en-US" sz="2400" b="1" dirty="0">
                <a:solidFill>
                  <a:schemeClr val="accent2"/>
                </a:solidFill>
              </a:rPr>
              <a:t>Limits</a:t>
            </a:r>
            <a:endParaRPr lang="en-US" sz="2400" dirty="0"/>
          </a:p>
        </p:txBody>
      </p:sp>
      <p:sp>
        <p:nvSpPr>
          <p:cNvPr id="5" name="Text 3"/>
          <p:cNvSpPr txBox="1"/>
          <p:nvPr/>
        </p:nvSpPr>
        <p:spPr>
          <a:xfrm>
            <a:off x="777240" y="2194560"/>
            <a:ext cx="3063240" cy="1920240"/>
          </a:xfrm>
          <a:prstGeom prst="rect">
            <a:avLst/>
          </a:prstGeom>
          <a:noFill/>
          <a:ln/>
        </p:spPr>
        <p:txBody>
          <a:bodyPr wrap="square" lIns="0" tIns="0" rIns="0" bIns="0" rtlCol="0" anchor="t"/>
          <a:lstStyle/>
          <a:p>
            <a:pPr indent="0" marL="0">
              <a:spcAft>
                <a:spcPts val="800"/>
              </a:spcAft>
              <a:buNone/>
            </a:pPr>
            <a:r>
              <a:rPr lang="en-US" sz="1700" dirty="0">
                <a:solidFill>
                  <a:schemeClr val="bg2"/>
                </a:solidFill>
              </a:rPr>
              <a:t>Backs and sides are guesses</a:t>
            </a:r>
            <a:endParaRPr lang="en-US" sz="1700" dirty="0"/>
          </a:p>
          <a:p>
            <a:pPr indent="0" marL="0">
              <a:spcAft>
                <a:spcPts val="800"/>
              </a:spcAft>
              <a:buNone/>
            </a:pPr>
            <a:r>
              <a:rPr lang="en-US" sz="1700" dirty="0">
                <a:solidFill>
                  <a:schemeClr val="bg2"/>
                </a:solidFill>
              </a:rPr>
              <a:t>Thin parts come out thick</a:t>
            </a:r>
            <a:endParaRPr lang="en-US" sz="1700" dirty="0"/>
          </a:p>
          <a:p>
            <a:pPr indent="0" marL="0">
              <a:spcAft>
                <a:spcPts val="800"/>
              </a:spcAft>
              <a:buNone/>
            </a:pPr>
            <a:r>
              <a:rPr lang="en-US" sz="1700" dirty="0">
                <a:solidFill>
                  <a:schemeClr val="bg2"/>
                </a:solidFill>
              </a:rPr>
              <a:t>Full runs on one AMD GPU</a:t>
            </a:r>
            <a:endParaRPr lang="en-US" sz="1700" dirty="0"/>
          </a:p>
        </p:txBody>
      </p:sp>
      <p:sp>
        <p:nvSpPr>
          <p:cNvPr id="6" name="Shape 4"/>
          <p:cNvSpPr/>
          <p:nvPr/>
        </p:nvSpPr>
        <p:spPr>
          <a:xfrm>
            <a:off x="4343400" y="1463040"/>
            <a:ext cx="3520440" cy="2788920"/>
          </a:xfrm>
          <a:prstGeom prst="roundRect">
            <a:avLst>
              <a:gd name="adj" fmla="val 3279"/>
            </a:avLst>
          </a:prstGeom>
          <a:solidFill>
            <a:srgbClr val="26324F"/>
          </a:solidFill>
          <a:ln/>
        </p:spPr>
      </p:sp>
      <p:sp>
        <p:nvSpPr>
          <p:cNvPr id="7" name="Text 5"/>
          <p:cNvSpPr txBox="1"/>
          <p:nvPr/>
        </p:nvSpPr>
        <p:spPr>
          <a:xfrm>
            <a:off x="4572000" y="1645920"/>
            <a:ext cx="3063240" cy="457200"/>
          </a:xfrm>
          <a:prstGeom prst="rect">
            <a:avLst/>
          </a:prstGeom>
          <a:noFill/>
          <a:ln/>
        </p:spPr>
        <p:txBody>
          <a:bodyPr wrap="square" lIns="0" tIns="0" rIns="0" bIns="0" rtlCol="0" anchor="ctr"/>
          <a:lstStyle/>
          <a:p>
            <a:pPr indent="0" marL="0">
              <a:buNone/>
            </a:pPr>
            <a:r>
              <a:rPr lang="en-US" sz="2400" b="1" dirty="0">
                <a:solidFill>
                  <a:schemeClr val="accent2"/>
                </a:solidFill>
              </a:rPr>
              <a:t>Uses</a:t>
            </a:r>
            <a:endParaRPr lang="en-US" sz="2400" dirty="0"/>
          </a:p>
        </p:txBody>
      </p:sp>
      <p:sp>
        <p:nvSpPr>
          <p:cNvPr id="8" name="Text 6"/>
          <p:cNvSpPr txBox="1"/>
          <p:nvPr/>
        </p:nvSpPr>
        <p:spPr>
          <a:xfrm>
            <a:off x="4572000" y="2194560"/>
            <a:ext cx="3063240" cy="1920240"/>
          </a:xfrm>
          <a:prstGeom prst="rect">
            <a:avLst/>
          </a:prstGeom>
          <a:noFill/>
          <a:ln/>
        </p:spPr>
        <p:txBody>
          <a:bodyPr wrap="square" lIns="0" tIns="0" rIns="0" bIns="0" rtlCol="0" anchor="t"/>
          <a:lstStyle/>
          <a:p>
            <a:pPr indent="0" marL="0">
              <a:spcAft>
                <a:spcPts val="800"/>
              </a:spcAft>
              <a:buNone/>
            </a:pPr>
            <a:r>
              <a:rPr lang="en-US" sz="1700" dirty="0">
                <a:solidFill>
                  <a:schemeClr val="bg2"/>
                </a:solidFill>
              </a:rPr>
              <a:t>Product design</a:t>
            </a:r>
            <a:endParaRPr lang="en-US" sz="1700" dirty="0"/>
          </a:p>
          <a:p>
            <a:pPr indent="0" marL="0">
              <a:spcAft>
                <a:spcPts val="800"/>
              </a:spcAft>
              <a:buNone/>
            </a:pPr>
            <a:r>
              <a:rPr lang="en-US" sz="1700" dirty="0">
                <a:solidFill>
                  <a:schemeClr val="bg2"/>
                </a:solidFill>
              </a:rPr>
              <a:t>Architecture</a:t>
            </a:r>
            <a:endParaRPr lang="en-US" sz="1700" dirty="0"/>
          </a:p>
          <a:p>
            <a:pPr indent="0" marL="0">
              <a:spcAft>
                <a:spcPts val="800"/>
              </a:spcAft>
              <a:buNone/>
            </a:pPr>
            <a:r>
              <a:rPr lang="en-US" sz="1700" dirty="0">
                <a:solidFill>
                  <a:schemeClr val="bg2"/>
                </a:solidFill>
              </a:rPr>
              <a:t>Games and education</a:t>
            </a:r>
            <a:endParaRPr lang="en-US" sz="1700" dirty="0"/>
          </a:p>
        </p:txBody>
      </p:sp>
      <p:sp>
        <p:nvSpPr>
          <p:cNvPr id="9" name="Shape 7"/>
          <p:cNvSpPr/>
          <p:nvPr/>
        </p:nvSpPr>
        <p:spPr>
          <a:xfrm>
            <a:off x="8138160" y="1463040"/>
            <a:ext cx="3474720" cy="2788920"/>
          </a:xfrm>
          <a:prstGeom prst="roundRect">
            <a:avLst>
              <a:gd name="adj" fmla="val 3279"/>
            </a:avLst>
          </a:prstGeom>
          <a:solidFill>
            <a:srgbClr val="26324F"/>
          </a:solidFill>
          <a:ln/>
        </p:spPr>
      </p:sp>
      <p:sp>
        <p:nvSpPr>
          <p:cNvPr id="10" name="Text 8"/>
          <p:cNvSpPr txBox="1"/>
          <p:nvPr/>
        </p:nvSpPr>
        <p:spPr>
          <a:xfrm>
            <a:off x="8366760" y="1645920"/>
            <a:ext cx="3017520" cy="457200"/>
          </a:xfrm>
          <a:prstGeom prst="rect">
            <a:avLst/>
          </a:prstGeom>
          <a:noFill/>
          <a:ln/>
        </p:spPr>
        <p:txBody>
          <a:bodyPr wrap="square" lIns="0" tIns="0" rIns="0" bIns="0" rtlCol="0" anchor="ctr"/>
          <a:lstStyle/>
          <a:p>
            <a:pPr indent="0" marL="0">
              <a:buNone/>
            </a:pPr>
            <a:r>
              <a:rPr lang="en-US" sz="2400" b="1" dirty="0">
                <a:solidFill>
                  <a:schemeClr val="accent2"/>
                </a:solidFill>
              </a:rPr>
              <a:t>Disclosed</a:t>
            </a:r>
            <a:endParaRPr lang="en-US" sz="2400" dirty="0"/>
          </a:p>
        </p:txBody>
      </p:sp>
      <p:sp>
        <p:nvSpPr>
          <p:cNvPr id="11" name="Text 9"/>
          <p:cNvSpPr txBox="1"/>
          <p:nvPr/>
        </p:nvSpPr>
        <p:spPr>
          <a:xfrm>
            <a:off x="8366760" y="2194560"/>
            <a:ext cx="3017520" cy="1920240"/>
          </a:xfrm>
          <a:prstGeom prst="rect">
            <a:avLst/>
          </a:prstGeom>
          <a:noFill/>
          <a:ln/>
        </p:spPr>
        <p:txBody>
          <a:bodyPr wrap="square" lIns="0" tIns="0" rIns="0" bIns="0" rtlCol="0" anchor="t"/>
          <a:lstStyle/>
          <a:p>
            <a:pPr indent="0" marL="0">
              <a:spcAft>
                <a:spcPts val="800"/>
              </a:spcAft>
              <a:buNone/>
            </a:pPr>
            <a:r>
              <a:rPr lang="en-US" sz="1700" dirty="0">
                <a:solidFill>
                  <a:schemeClr val="bg2"/>
                </a:solidFill>
              </a:rPr>
              <a:t>Pretrained models, no custom dataset</a:t>
            </a:r>
            <a:endParaRPr lang="en-US" sz="1700" dirty="0"/>
          </a:p>
          <a:p>
            <a:pPr indent="0" marL="0">
              <a:spcAft>
                <a:spcPts val="800"/>
              </a:spcAft>
              <a:buNone/>
            </a:pPr>
            <a:r>
              <a:rPr lang="en-US" sz="1700" dirty="0">
                <a:solidFill>
                  <a:schemeClr val="bg2"/>
                </a:solidFill>
              </a:rPr>
              <a:t>AI used: Claude Code, Claude Design</a:t>
            </a:r>
            <a:endParaRPr lang="en-US" sz="1700" dirty="0"/>
          </a:p>
          <a:p>
            <a:pPr indent="0" marL="0">
              <a:spcAft>
                <a:spcPts val="800"/>
              </a:spcAft>
              <a:buNone/>
            </a:pPr>
            <a:r>
              <a:rPr lang="en-US" sz="1700" dirty="0">
                <a:solidFill>
                  <a:schemeClr val="bg2"/>
                </a:solidFill>
              </a:rPr>
              <a:t>Everything logged in ATTRIBUTION.md</a:t>
            </a:r>
            <a:endParaRPr lang="en-US" sz="1700" dirty="0"/>
          </a:p>
        </p:txBody>
      </p:sp>
      <p:sp>
        <p:nvSpPr>
          <p:cNvPr id="12" name="Shape 10"/>
          <p:cNvSpPr/>
          <p:nvPr/>
        </p:nvSpPr>
        <p:spPr>
          <a:xfrm>
            <a:off x="548640" y="4572000"/>
            <a:ext cx="11064240" cy="1005840"/>
          </a:xfrm>
          <a:prstGeom prst="roundRect">
            <a:avLst>
              <a:gd name="adj" fmla="val 9091"/>
            </a:avLst>
          </a:prstGeom>
          <a:solidFill>
            <a:schemeClr val="accent2"/>
          </a:solidFill>
          <a:ln/>
        </p:spPr>
      </p:sp>
      <p:sp>
        <p:nvSpPr>
          <p:cNvPr id="13" name="Text 11"/>
          <p:cNvSpPr txBox="1"/>
          <p:nvPr/>
        </p:nvSpPr>
        <p:spPr>
          <a:xfrm>
            <a:off x="868680" y="4572000"/>
            <a:ext cx="10424160" cy="1005840"/>
          </a:xfrm>
          <a:prstGeom prst="rect">
            <a:avLst/>
          </a:prstGeom>
          <a:noFill/>
          <a:ln/>
        </p:spPr>
        <p:txBody>
          <a:bodyPr wrap="square" lIns="0" tIns="0" rIns="0" bIns="0" rtlCol="0" anchor="ctr"/>
          <a:lstStyle/>
          <a:p>
            <a:pPr indent="0" marL="0">
              <a:buNone/>
            </a:pPr>
            <a:r>
              <a:rPr lang="en-US" sz="3200" b="1" dirty="0">
                <a:solidFill>
                  <a:schemeClr val="tx1"/>
                </a:solidFill>
              </a:rPr>
              <a:t>Now hand us a fresh sketch</a:t>
            </a:r>
            <a:endParaRPr lang="en-US" sz="3200" dirty="0"/>
          </a:p>
        </p:txBody>
      </p:sp>
      <p:sp>
        <p:nvSpPr>
          <p:cNvPr id="14" name="Text 12">
            <a:hlinkClick r:id="rId1" tooltip=""/>
          </p:cNvPr>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600" u="sng" dirty="0">
                <a:solidFill>
                  <a:schemeClr val="accent4"/>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github.com/SoAkeD1/sketch2shape</a:t>
            </a:r>
            <a:endParaRPr lang="en-US" sz="1600" dirty="0"/>
          </a:p>
        </p:txBody>
      </p:sp>
    </p:spTree>
  </p:cSld>
  <p:clrMapOvr>
    <a:masterClrMapping/>
  </p:clrMapOvr>
</p:sld>
</file>

<file path=ppt/theme/theme1.xml><?xml version="1.0" encoding="utf-8"?>
<a:theme xmlns:a="http://schemas.openxmlformats.org/drawingml/2006/main" name="Living Notebook">
  <a:themeElements>
    <a:clrScheme name="Living Notebook">
      <a:dk1>
        <a:srgbClr val="1F2A44"/>
      </a:dk1>
      <a:lt1>
        <a:srgbClr val="FFFFFF"/>
      </a:lt1>
      <a:dk2>
        <a:srgbClr val="5F6673"/>
      </a:dk2>
      <a:lt2>
        <a:srgbClr val="F8F7F2"/>
      </a:lt2>
      <a:accent1>
        <a:srgbClr val="00897B"/>
      </a:accent1>
      <a:accent2>
        <a:srgbClr val="FFD54F"/>
      </a:accent2>
      <a:accent3>
        <a:srgbClr val="D64545"/>
      </a:accent3>
      <a:accent4>
        <a:srgbClr val="D9EEEB"/>
      </a:accent4>
      <a:accent5>
        <a:srgbClr val="FFFDF7"/>
      </a:accent5>
      <a:accent6>
        <a:srgbClr val="E2DED2"/>
      </a:accent6>
      <a:hlink>
        <a:srgbClr val="00594F"/>
      </a:hlink>
      <a:folHlink>
        <a:srgbClr val="5F6673"/>
      </a:folHlink>
    </a:clrScheme>
    <a:fontScheme name="Living Noteboo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Sketch2Shape</dc:title>
  <dc:subject>PptxGenJS Presentation</dc:subject>
  <dc:creator>PptxGenJS</dc:creator>
  <cp:lastModifiedBy>PptxGenJS</cp:lastModifiedBy>
  <cp:revision>1</cp:revision>
  <dcterms:created xsi:type="dcterms:W3CDTF">2026-11-01T00:06:32Z</dcterms:created>
  <dcterms:modified xsi:type="dcterms:W3CDTF">2026-11-01T00:06:32Z</dcterms:modified>
</cp:coreProperties>
</file>